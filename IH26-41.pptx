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Lst>
  <p:sldSz cx="18288000" cy="10287000"/>
  <p:notesSz cx="6858000" cy="9144000"/>
  <p:embeddedFontLst>
    <p:embeddedFont>
      <p:font typeface="Canva Sans Bold" panose="020B0604020202020204" charset="0"/>
      <p:regular r:id="rId8"/>
    </p:embeddedFont>
    <p:embeddedFont>
      <p:font typeface="Poppins Bold" panose="020B0604020202020204" charset="0"/>
      <p:regular r:id="rId9"/>
    </p:embeddedFont>
    <p:embeddedFont>
      <p:font typeface="Poppins Heavy" panose="020B0604020202020204" charset="0"/>
      <p:regular r:id="rId10"/>
    </p:embeddedFont>
    <p:embeddedFont>
      <p:font typeface="Poppins Medium" panose="00000600000000000000" pitchFamily="2" charset="0"/>
      <p:regular r:id="rId11"/>
      <p:italic r:id="rId12"/>
    </p:embeddedFont>
    <p:embeddedFont>
      <p:font typeface="Poppins Ultra-Bold" panose="020B0604020202020204" charset="0"/>
      <p:regular r:id="rId13"/>
    </p:embeddedFont>
    <p:embeddedFont>
      <p:font typeface="Roboto Condensed" panose="02000000000000000000" pitchFamily="2" charset="0"/>
      <p:regular r:id="rId14"/>
      <p:bold r:id="rId15"/>
      <p:italic r:id="rId16"/>
      <p:boldItalic r:id="rId17"/>
    </p:embeddedFont>
    <p:embeddedFont>
      <p:font typeface="Roboto Condensed Bold" panose="02000000000000000000"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5.fntdata"/><Relationship Id="rId17"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9.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font" Target="fonts/font8.fntdata"/><Relationship Id="rId10" Type="http://schemas.openxmlformats.org/officeDocument/2006/relationships/font" Target="fonts/font3.fntdata"/><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font" Target="fonts/font7.fntdata"/><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0" Type="http://schemas.openxmlformats.org/officeDocument/2006/relationships/hyperlink" Target="https://meet.google.com/xvm-vbhy-zfw" TargetMode="External"/><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10.png"/><Relationship Id="rId17" Type="http://schemas.openxmlformats.org/officeDocument/2006/relationships/image" Target="../media/image22.png"/><Relationship Id="rId2" Type="http://schemas.openxmlformats.org/officeDocument/2006/relationships/image" Target="../media/image11.png"/><Relationship Id="rId16"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15.png"/><Relationship Id="rId11" Type="http://schemas.openxmlformats.org/officeDocument/2006/relationships/image" Target="../media/image3.png"/><Relationship Id="rId5" Type="http://schemas.openxmlformats.org/officeDocument/2006/relationships/image" Target="../media/image14.png"/><Relationship Id="rId15" Type="http://schemas.openxmlformats.org/officeDocument/2006/relationships/image" Target="../media/image20.png"/><Relationship Id="rId10" Type="http://schemas.openxmlformats.org/officeDocument/2006/relationships/image" Target="../media/image2.png"/><Relationship Id="rId4" Type="http://schemas.openxmlformats.org/officeDocument/2006/relationships/image" Target="../media/image13.png"/><Relationship Id="rId9" Type="http://schemas.openxmlformats.org/officeDocument/2006/relationships/image" Target="../media/image4.png"/><Relationship Id="rId14" Type="http://schemas.openxmlformats.org/officeDocument/2006/relationships/image" Target="../media/image19.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7.png"/><Relationship Id="rId7" Type="http://schemas.openxmlformats.org/officeDocument/2006/relationships/image" Target="../media/image10.pn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31.png"/><Relationship Id="rId5" Type="http://schemas.openxmlformats.org/officeDocument/2006/relationships/image" Target="../media/image2.png"/><Relationship Id="rId10" Type="http://schemas.openxmlformats.org/officeDocument/2006/relationships/image" Target="../media/image30.png"/><Relationship Id="rId4" Type="http://schemas.openxmlformats.org/officeDocument/2006/relationships/image" Target="../media/image4.png"/><Relationship Id="rId9" Type="http://schemas.openxmlformats.org/officeDocument/2006/relationships/image" Target="../media/image29.png"/></Relationships>
</file>

<file path=ppt/slides/_rels/slide6.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10.pn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699369" y="8095240"/>
            <a:ext cx="44006" cy="1387536"/>
          </a:xfrm>
          <a:custGeom>
            <a:avLst/>
            <a:gdLst/>
            <a:ahLst/>
            <a:cxnLst/>
            <a:rect l="l" t="t" r="r" b="b"/>
            <a:pathLst>
              <a:path w="44006" h="1387536">
                <a:moveTo>
                  <a:pt x="0" y="0"/>
                </a:moveTo>
                <a:lnTo>
                  <a:pt x="44006" y="0"/>
                </a:lnTo>
                <a:lnTo>
                  <a:pt x="44006" y="1387536"/>
                </a:lnTo>
                <a:lnTo>
                  <a:pt x="0" y="1387536"/>
                </a:lnTo>
                <a:lnTo>
                  <a:pt x="0" y="0"/>
                </a:lnTo>
                <a:close/>
              </a:path>
            </a:pathLst>
          </a:custGeom>
          <a:blipFill>
            <a:blip r:embed="rId2"/>
            <a:stretch>
              <a:fillRect r="-299334"/>
            </a:stretch>
          </a:blipFill>
        </p:spPr>
        <p:txBody>
          <a:bodyPr/>
          <a:lstStyle/>
          <a:p>
            <a:endParaRPr lang="en-ID"/>
          </a:p>
        </p:txBody>
      </p:sp>
      <p:sp>
        <p:nvSpPr>
          <p:cNvPr id="3" name="Freeform 3"/>
          <p:cNvSpPr/>
          <p:nvPr/>
        </p:nvSpPr>
        <p:spPr>
          <a:xfrm>
            <a:off x="10484069" y="8783069"/>
            <a:ext cx="2894125" cy="1129796"/>
          </a:xfrm>
          <a:custGeom>
            <a:avLst/>
            <a:gdLst/>
            <a:ahLst/>
            <a:cxnLst/>
            <a:rect l="l" t="t" r="r" b="b"/>
            <a:pathLst>
              <a:path w="2894125" h="1129796">
                <a:moveTo>
                  <a:pt x="0" y="0"/>
                </a:moveTo>
                <a:lnTo>
                  <a:pt x="2894125" y="0"/>
                </a:lnTo>
                <a:lnTo>
                  <a:pt x="2894125" y="1129795"/>
                </a:lnTo>
                <a:lnTo>
                  <a:pt x="0" y="1129795"/>
                </a:lnTo>
                <a:lnTo>
                  <a:pt x="0" y="0"/>
                </a:lnTo>
                <a:close/>
              </a:path>
            </a:pathLst>
          </a:custGeom>
          <a:blipFill>
            <a:blip r:embed="rId3"/>
            <a:stretch>
              <a:fillRect t="-47588" b="-57342"/>
            </a:stretch>
          </a:blipFill>
        </p:spPr>
        <p:txBody>
          <a:bodyPr/>
          <a:lstStyle/>
          <a:p>
            <a:endParaRPr lang="en-ID"/>
          </a:p>
        </p:txBody>
      </p:sp>
      <p:sp>
        <p:nvSpPr>
          <p:cNvPr id="4" name="Freeform 4"/>
          <p:cNvSpPr/>
          <p:nvPr/>
        </p:nvSpPr>
        <p:spPr>
          <a:xfrm>
            <a:off x="1338369" y="1980922"/>
            <a:ext cx="8225527" cy="1585152"/>
          </a:xfrm>
          <a:custGeom>
            <a:avLst/>
            <a:gdLst/>
            <a:ahLst/>
            <a:cxnLst/>
            <a:rect l="l" t="t" r="r" b="b"/>
            <a:pathLst>
              <a:path w="8225527" h="1585152">
                <a:moveTo>
                  <a:pt x="0" y="0"/>
                </a:moveTo>
                <a:lnTo>
                  <a:pt x="8225526" y="0"/>
                </a:lnTo>
                <a:lnTo>
                  <a:pt x="8225526" y="1585153"/>
                </a:lnTo>
                <a:lnTo>
                  <a:pt x="0" y="1585153"/>
                </a:lnTo>
                <a:lnTo>
                  <a:pt x="0" y="0"/>
                </a:lnTo>
                <a:close/>
              </a:path>
            </a:pathLst>
          </a:custGeom>
          <a:blipFill>
            <a:blip r:embed="rId4"/>
            <a:stretch>
              <a:fillRect t="-276397" b="-272240"/>
            </a:stretch>
          </a:blipFill>
        </p:spPr>
        <p:txBody>
          <a:bodyPr/>
          <a:lstStyle/>
          <a:p>
            <a:endParaRPr lang="en-ID"/>
          </a:p>
        </p:txBody>
      </p:sp>
      <p:sp>
        <p:nvSpPr>
          <p:cNvPr id="5" name="TextBox 5"/>
          <p:cNvSpPr txBox="1"/>
          <p:nvPr/>
        </p:nvSpPr>
        <p:spPr>
          <a:xfrm>
            <a:off x="1338369" y="3823250"/>
            <a:ext cx="11907593" cy="1166986"/>
          </a:xfrm>
          <a:prstGeom prst="rect">
            <a:avLst/>
          </a:prstGeom>
        </p:spPr>
        <p:txBody>
          <a:bodyPr lIns="0" tIns="0" rIns="0" bIns="0" rtlCol="0" anchor="t">
            <a:spAutoFit/>
          </a:bodyPr>
          <a:lstStyle/>
          <a:p>
            <a:pPr>
              <a:lnSpc>
                <a:spcPts val="9124"/>
              </a:lnSpc>
            </a:pPr>
            <a:r>
              <a:rPr lang="en-US" sz="7602" b="1" spc="226" dirty="0">
                <a:solidFill>
                  <a:srgbClr val="102A43"/>
                </a:solidFill>
                <a:latin typeface="Poppins Ultra-Bold"/>
                <a:ea typeface="Poppins Ultra-Bold"/>
                <a:cs typeface="Poppins Ultra-Bold"/>
                <a:sym typeface="Poppins Ultra-Bold"/>
              </a:rPr>
              <a:t>API GATEKEEPER</a:t>
            </a:r>
          </a:p>
        </p:txBody>
      </p:sp>
      <p:sp>
        <p:nvSpPr>
          <p:cNvPr id="6" name="TextBox 6"/>
          <p:cNvSpPr txBox="1"/>
          <p:nvPr/>
        </p:nvSpPr>
        <p:spPr>
          <a:xfrm>
            <a:off x="1028700" y="5575049"/>
            <a:ext cx="5879594" cy="641201"/>
          </a:xfrm>
          <a:prstGeom prst="rect">
            <a:avLst/>
          </a:prstGeom>
        </p:spPr>
        <p:txBody>
          <a:bodyPr lIns="0" tIns="0" rIns="0" bIns="0" rtlCol="0" anchor="t">
            <a:spAutoFit/>
          </a:bodyPr>
          <a:lstStyle/>
          <a:p>
            <a:pPr algn="ctr">
              <a:lnSpc>
                <a:spcPts val="5039"/>
              </a:lnSpc>
            </a:pPr>
            <a:r>
              <a:rPr lang="en-US" sz="4199" b="1" spc="125" dirty="0">
                <a:solidFill>
                  <a:srgbClr val="E47C29"/>
                </a:solidFill>
                <a:latin typeface="Roboto Condensed Bold"/>
                <a:ea typeface="Roboto Condensed Bold"/>
                <a:cs typeface="Roboto Condensed Bold"/>
                <a:sym typeface="Roboto Condensed Bold"/>
              </a:rPr>
              <a:t>TEAM NAME: CYDRAXIS</a:t>
            </a:r>
          </a:p>
        </p:txBody>
      </p:sp>
      <p:sp>
        <p:nvSpPr>
          <p:cNvPr id="7" name="TextBox 7"/>
          <p:cNvSpPr txBox="1"/>
          <p:nvPr/>
        </p:nvSpPr>
        <p:spPr>
          <a:xfrm>
            <a:off x="1323129" y="6354381"/>
            <a:ext cx="2639271" cy="1421095"/>
          </a:xfrm>
          <a:prstGeom prst="rect">
            <a:avLst/>
          </a:prstGeom>
        </p:spPr>
        <p:txBody>
          <a:bodyPr wrap="square" lIns="0" tIns="0" rIns="0" bIns="0" rtlCol="0" anchor="t">
            <a:spAutoFit/>
          </a:bodyPr>
          <a:lstStyle/>
          <a:p>
            <a:pPr>
              <a:lnSpc>
                <a:spcPts val="2792"/>
              </a:lnSpc>
            </a:pPr>
            <a:r>
              <a:rPr lang="en-US" sz="2326" b="1" dirty="0">
                <a:solidFill>
                  <a:srgbClr val="102A43"/>
                </a:solidFill>
                <a:latin typeface="Roboto Condensed Bold"/>
                <a:ea typeface="Roboto Condensed Bold"/>
                <a:cs typeface="Roboto Condensed Bold"/>
                <a:sym typeface="Roboto Condensed Bold"/>
              </a:rPr>
              <a:t>TEAM MEMBERS :  </a:t>
            </a:r>
          </a:p>
          <a:p>
            <a:pPr algn="ctr">
              <a:lnSpc>
                <a:spcPts val="2792"/>
              </a:lnSpc>
            </a:pPr>
            <a:r>
              <a:rPr lang="en-US" sz="2326" b="1" dirty="0">
                <a:solidFill>
                  <a:srgbClr val="102A43"/>
                </a:solidFill>
                <a:latin typeface="Roboto Condensed Bold"/>
                <a:ea typeface="Roboto Condensed Bold"/>
                <a:cs typeface="Roboto Condensed Bold"/>
                <a:sym typeface="Roboto Condensed Bold"/>
              </a:rPr>
              <a:t>T CHETHAN VINAYAK</a:t>
            </a:r>
          </a:p>
          <a:p>
            <a:pPr>
              <a:lnSpc>
                <a:spcPts val="2792"/>
              </a:lnSpc>
            </a:pPr>
            <a:r>
              <a:rPr lang="en-US" sz="2326" b="1" dirty="0">
                <a:solidFill>
                  <a:srgbClr val="102A43"/>
                </a:solidFill>
                <a:latin typeface="Roboto Condensed Bold"/>
                <a:ea typeface="Roboto Condensed Bold"/>
                <a:cs typeface="Roboto Condensed Bold"/>
                <a:sym typeface="Roboto Condensed Bold"/>
              </a:rPr>
              <a:t> K CHANDANA</a:t>
            </a:r>
          </a:p>
          <a:p>
            <a:pPr>
              <a:lnSpc>
                <a:spcPts val="2792"/>
              </a:lnSpc>
            </a:pPr>
            <a:r>
              <a:rPr lang="en-US" sz="2326" b="1" dirty="0">
                <a:solidFill>
                  <a:srgbClr val="102A43"/>
                </a:solidFill>
                <a:latin typeface="Roboto Condensed Bold"/>
                <a:ea typeface="Roboto Condensed Bold"/>
                <a:cs typeface="Roboto Condensed Bold"/>
                <a:sym typeface="Roboto Condensed Bold"/>
              </a:rPr>
              <a:t> G DIVYA SRI</a:t>
            </a:r>
          </a:p>
        </p:txBody>
      </p:sp>
      <p:sp>
        <p:nvSpPr>
          <p:cNvPr id="8" name="TextBox 8"/>
          <p:cNvSpPr txBox="1"/>
          <p:nvPr/>
        </p:nvSpPr>
        <p:spPr>
          <a:xfrm>
            <a:off x="1353609" y="7970513"/>
            <a:ext cx="7065563" cy="353605"/>
          </a:xfrm>
          <a:prstGeom prst="rect">
            <a:avLst/>
          </a:prstGeom>
        </p:spPr>
        <p:txBody>
          <a:bodyPr wrap="square" lIns="0" tIns="0" rIns="0" bIns="0" rtlCol="0" anchor="t">
            <a:spAutoFit/>
          </a:bodyPr>
          <a:lstStyle/>
          <a:p>
            <a:pPr>
              <a:lnSpc>
                <a:spcPts val="2792"/>
              </a:lnSpc>
            </a:pPr>
            <a:r>
              <a:rPr lang="en-US" sz="2326" b="1" dirty="0">
                <a:solidFill>
                  <a:srgbClr val="102A43"/>
                </a:solidFill>
                <a:latin typeface="Roboto Condensed Bold"/>
                <a:ea typeface="Roboto Condensed Bold"/>
                <a:cs typeface="Roboto Condensed Bold"/>
                <a:sym typeface="Roboto Condensed Bold"/>
              </a:rPr>
              <a:t>COLLEGE NAME: THE APOLLO UNIVERSITY</a:t>
            </a:r>
          </a:p>
        </p:txBody>
      </p:sp>
      <p:sp>
        <p:nvSpPr>
          <p:cNvPr id="9" name="TextBox 9"/>
          <p:cNvSpPr txBox="1"/>
          <p:nvPr/>
        </p:nvSpPr>
        <p:spPr>
          <a:xfrm>
            <a:off x="856028" y="8452323"/>
            <a:ext cx="4625584" cy="353606"/>
          </a:xfrm>
          <a:prstGeom prst="rect">
            <a:avLst/>
          </a:prstGeom>
        </p:spPr>
        <p:txBody>
          <a:bodyPr wrap="square" lIns="0" tIns="0" rIns="0" bIns="0" rtlCol="0" anchor="t">
            <a:spAutoFit/>
          </a:bodyPr>
          <a:lstStyle/>
          <a:p>
            <a:pPr algn="ctr">
              <a:lnSpc>
                <a:spcPts val="2792"/>
              </a:lnSpc>
            </a:pPr>
            <a:r>
              <a:rPr lang="en-US" sz="2326" b="1" dirty="0">
                <a:solidFill>
                  <a:srgbClr val="102A43"/>
                </a:solidFill>
                <a:latin typeface="Roboto Condensed Bold"/>
                <a:ea typeface="Roboto Condensed Bold"/>
                <a:cs typeface="Roboto Condensed Bold"/>
                <a:sym typeface="Roboto Condensed Bold"/>
              </a:rPr>
              <a:t>PROBLEM STATEMENT ID: C2</a:t>
            </a:r>
          </a:p>
        </p:txBody>
      </p:sp>
      <p:sp>
        <p:nvSpPr>
          <p:cNvPr id="10" name="Freeform 10"/>
          <p:cNvSpPr/>
          <p:nvPr/>
        </p:nvSpPr>
        <p:spPr>
          <a:xfrm>
            <a:off x="1684566" y="520059"/>
            <a:ext cx="3772351" cy="917939"/>
          </a:xfrm>
          <a:custGeom>
            <a:avLst/>
            <a:gdLst/>
            <a:ahLst/>
            <a:cxnLst/>
            <a:rect l="l" t="t" r="r" b="b"/>
            <a:pathLst>
              <a:path w="3772351" h="917939">
                <a:moveTo>
                  <a:pt x="0" y="0"/>
                </a:moveTo>
                <a:lnTo>
                  <a:pt x="3772352" y="0"/>
                </a:lnTo>
                <a:lnTo>
                  <a:pt x="3772352" y="917938"/>
                </a:lnTo>
                <a:lnTo>
                  <a:pt x="0" y="917938"/>
                </a:lnTo>
                <a:lnTo>
                  <a:pt x="0" y="0"/>
                </a:lnTo>
                <a:close/>
              </a:path>
            </a:pathLst>
          </a:custGeom>
          <a:blipFill>
            <a:blip r:embed="rId5"/>
            <a:stretch>
              <a:fillRect/>
            </a:stretch>
          </a:blipFill>
        </p:spPr>
        <p:txBody>
          <a:bodyPr/>
          <a:lstStyle/>
          <a:p>
            <a:endParaRPr lang="en-ID"/>
          </a:p>
        </p:txBody>
      </p:sp>
      <p:grpSp>
        <p:nvGrpSpPr>
          <p:cNvPr id="11" name="Group 11"/>
          <p:cNvGrpSpPr/>
          <p:nvPr/>
        </p:nvGrpSpPr>
        <p:grpSpPr>
          <a:xfrm>
            <a:off x="13928083" y="8715521"/>
            <a:ext cx="4035447" cy="1264892"/>
            <a:chOff x="0" y="0"/>
            <a:chExt cx="5380596" cy="1686523"/>
          </a:xfrm>
        </p:grpSpPr>
        <p:sp>
          <p:nvSpPr>
            <p:cNvPr id="12" name="Freeform 12"/>
            <p:cNvSpPr/>
            <p:nvPr/>
          </p:nvSpPr>
          <p:spPr>
            <a:xfrm>
              <a:off x="2018116" y="654395"/>
              <a:ext cx="1164176" cy="678496"/>
            </a:xfrm>
            <a:custGeom>
              <a:avLst/>
              <a:gdLst/>
              <a:ahLst/>
              <a:cxnLst/>
              <a:rect l="l" t="t" r="r" b="b"/>
              <a:pathLst>
                <a:path w="1164176" h="678496">
                  <a:moveTo>
                    <a:pt x="0" y="0"/>
                  </a:moveTo>
                  <a:lnTo>
                    <a:pt x="1164175" y="0"/>
                  </a:lnTo>
                  <a:lnTo>
                    <a:pt x="1164175" y="678496"/>
                  </a:lnTo>
                  <a:lnTo>
                    <a:pt x="0" y="678496"/>
                  </a:lnTo>
                  <a:lnTo>
                    <a:pt x="0" y="0"/>
                  </a:lnTo>
                  <a:close/>
                </a:path>
              </a:pathLst>
            </a:custGeom>
            <a:blipFill>
              <a:blip r:embed="rId6"/>
              <a:stretch>
                <a:fillRect/>
              </a:stretch>
            </a:blipFill>
          </p:spPr>
          <p:txBody>
            <a:bodyPr/>
            <a:lstStyle/>
            <a:p>
              <a:endParaRPr lang="en-ID"/>
            </a:p>
          </p:txBody>
        </p:sp>
        <p:sp>
          <p:nvSpPr>
            <p:cNvPr id="13" name="Freeform 13"/>
            <p:cNvSpPr/>
            <p:nvPr/>
          </p:nvSpPr>
          <p:spPr>
            <a:xfrm>
              <a:off x="3505887" y="625951"/>
              <a:ext cx="704405" cy="704405"/>
            </a:xfrm>
            <a:custGeom>
              <a:avLst/>
              <a:gdLst/>
              <a:ahLst/>
              <a:cxnLst/>
              <a:rect l="l" t="t" r="r" b="b"/>
              <a:pathLst>
                <a:path w="704405" h="704405">
                  <a:moveTo>
                    <a:pt x="0" y="0"/>
                  </a:moveTo>
                  <a:lnTo>
                    <a:pt x="704405" y="0"/>
                  </a:lnTo>
                  <a:lnTo>
                    <a:pt x="704405" y="704405"/>
                  </a:lnTo>
                  <a:lnTo>
                    <a:pt x="0" y="704405"/>
                  </a:lnTo>
                  <a:lnTo>
                    <a:pt x="0" y="0"/>
                  </a:lnTo>
                  <a:close/>
                </a:path>
              </a:pathLst>
            </a:custGeom>
            <a:blipFill>
              <a:blip r:embed="rId7"/>
              <a:stretch>
                <a:fillRect/>
              </a:stretch>
            </a:blipFill>
          </p:spPr>
          <p:txBody>
            <a:bodyPr/>
            <a:lstStyle/>
            <a:p>
              <a:endParaRPr lang="en-ID"/>
            </a:p>
          </p:txBody>
        </p:sp>
        <p:sp>
          <p:nvSpPr>
            <p:cNvPr id="14" name="TextBox 14"/>
            <p:cNvSpPr txBox="1"/>
            <p:nvPr/>
          </p:nvSpPr>
          <p:spPr>
            <a:xfrm>
              <a:off x="1366123" y="-19050"/>
              <a:ext cx="2570772" cy="314743"/>
            </a:xfrm>
            <a:prstGeom prst="rect">
              <a:avLst/>
            </a:prstGeom>
          </p:spPr>
          <p:txBody>
            <a:bodyPr lIns="0" tIns="0" rIns="0" bIns="0" rtlCol="0" anchor="t">
              <a:spAutoFit/>
            </a:bodyPr>
            <a:lstStyle/>
            <a:p>
              <a:pPr algn="l">
                <a:lnSpc>
                  <a:spcPts val="1926"/>
                </a:lnSpc>
              </a:pPr>
              <a:r>
                <a:rPr lang="en-US" sz="1481" b="1" spc="296">
                  <a:solidFill>
                    <a:srgbClr val="1F4E8C"/>
                  </a:solidFill>
                  <a:latin typeface="Canva Sans Bold"/>
                  <a:ea typeface="Canva Sans Bold"/>
                  <a:cs typeface="Canva Sans Bold"/>
                  <a:sym typeface="Canva Sans Bold"/>
                </a:rPr>
                <a:t>OUR SPONSERS</a:t>
              </a:r>
            </a:p>
          </p:txBody>
        </p:sp>
        <p:sp>
          <p:nvSpPr>
            <p:cNvPr id="15" name="Freeform 15"/>
            <p:cNvSpPr/>
            <p:nvPr/>
          </p:nvSpPr>
          <p:spPr>
            <a:xfrm>
              <a:off x="0" y="654395"/>
              <a:ext cx="1813047" cy="647517"/>
            </a:xfrm>
            <a:custGeom>
              <a:avLst/>
              <a:gdLst/>
              <a:ahLst/>
              <a:cxnLst/>
              <a:rect l="l" t="t" r="r" b="b"/>
              <a:pathLst>
                <a:path w="1813047" h="647517">
                  <a:moveTo>
                    <a:pt x="0" y="0"/>
                  </a:moveTo>
                  <a:lnTo>
                    <a:pt x="1813047" y="0"/>
                  </a:lnTo>
                  <a:lnTo>
                    <a:pt x="1813047" y="647517"/>
                  </a:lnTo>
                  <a:lnTo>
                    <a:pt x="0" y="647517"/>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ID"/>
            </a:p>
          </p:txBody>
        </p:sp>
        <p:sp>
          <p:nvSpPr>
            <p:cNvPr id="16" name="Freeform 16"/>
            <p:cNvSpPr/>
            <p:nvPr/>
          </p:nvSpPr>
          <p:spPr>
            <a:xfrm>
              <a:off x="4267933" y="295693"/>
              <a:ext cx="1112664" cy="1390829"/>
            </a:xfrm>
            <a:custGeom>
              <a:avLst/>
              <a:gdLst/>
              <a:ahLst/>
              <a:cxnLst/>
              <a:rect l="l" t="t" r="r" b="b"/>
              <a:pathLst>
                <a:path w="1112664" h="1390829">
                  <a:moveTo>
                    <a:pt x="0" y="0"/>
                  </a:moveTo>
                  <a:lnTo>
                    <a:pt x="1112663" y="0"/>
                  </a:lnTo>
                  <a:lnTo>
                    <a:pt x="1112663" y="1390830"/>
                  </a:lnTo>
                  <a:lnTo>
                    <a:pt x="0" y="1390830"/>
                  </a:lnTo>
                  <a:lnTo>
                    <a:pt x="0" y="0"/>
                  </a:lnTo>
                  <a:close/>
                </a:path>
              </a:pathLst>
            </a:custGeom>
            <a:blipFill>
              <a:blip r:embed="rId9"/>
              <a:stretch>
                <a:fillRect/>
              </a:stretch>
            </a:blipFill>
          </p:spPr>
          <p:txBody>
            <a:bodyPr/>
            <a:lstStyle/>
            <a:p>
              <a:endParaRPr lang="en-ID"/>
            </a:p>
          </p:txBody>
        </p:sp>
      </p:grpSp>
      <p:sp>
        <p:nvSpPr>
          <p:cNvPr id="17" name="Freeform 17">
            <a:hlinkClick r:id="rId10" tooltip="https://meet.google.com/xvm-vbhy-zfw"/>
          </p:cNvPr>
          <p:cNvSpPr/>
          <p:nvPr/>
        </p:nvSpPr>
        <p:spPr>
          <a:xfrm>
            <a:off x="12964131" y="520059"/>
            <a:ext cx="3866870" cy="831410"/>
          </a:xfrm>
          <a:custGeom>
            <a:avLst/>
            <a:gdLst/>
            <a:ahLst/>
            <a:cxnLst/>
            <a:rect l="l" t="t" r="r" b="b"/>
            <a:pathLst>
              <a:path w="3866870" h="831410">
                <a:moveTo>
                  <a:pt x="0" y="0"/>
                </a:moveTo>
                <a:lnTo>
                  <a:pt x="3866870" y="0"/>
                </a:lnTo>
                <a:lnTo>
                  <a:pt x="3866870" y="831409"/>
                </a:lnTo>
                <a:lnTo>
                  <a:pt x="0" y="831409"/>
                </a:lnTo>
                <a:lnTo>
                  <a:pt x="0" y="0"/>
                </a:lnTo>
                <a:close/>
              </a:path>
            </a:pathLst>
          </a:custGeom>
          <a:blipFill>
            <a:blip r:embed="rId11"/>
            <a:stretch>
              <a:fillRect/>
            </a:stretch>
          </a:blipFill>
        </p:spPr>
        <p:txBody>
          <a:bodyPr/>
          <a:lstStyle/>
          <a:p>
            <a:endParaRPr lang="en-ID"/>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95096" y="1331175"/>
            <a:ext cx="16490124" cy="2864670"/>
            <a:chOff x="0" y="0"/>
            <a:chExt cx="4257223" cy="745480"/>
          </a:xfrm>
        </p:grpSpPr>
        <p:sp>
          <p:nvSpPr>
            <p:cNvPr id="3" name="Freeform 3"/>
            <p:cNvSpPr/>
            <p:nvPr/>
          </p:nvSpPr>
          <p:spPr>
            <a:xfrm>
              <a:off x="0" y="0"/>
              <a:ext cx="4257223" cy="745480"/>
            </a:xfrm>
            <a:custGeom>
              <a:avLst/>
              <a:gdLst/>
              <a:ahLst/>
              <a:cxnLst/>
              <a:rect l="l" t="t" r="r" b="b"/>
              <a:pathLst>
                <a:path w="4257223" h="745480">
                  <a:moveTo>
                    <a:pt x="0" y="0"/>
                  </a:moveTo>
                  <a:lnTo>
                    <a:pt x="4257223" y="0"/>
                  </a:lnTo>
                  <a:lnTo>
                    <a:pt x="4257223" y="745480"/>
                  </a:lnTo>
                  <a:lnTo>
                    <a:pt x="0" y="745480"/>
                  </a:lnTo>
                  <a:close/>
                </a:path>
              </a:pathLst>
            </a:custGeom>
            <a:solidFill>
              <a:srgbClr val="EEEBEB"/>
            </a:solidFill>
          </p:spPr>
          <p:txBody>
            <a:bodyPr/>
            <a:lstStyle/>
            <a:p>
              <a:endParaRPr lang="en-ID"/>
            </a:p>
          </p:txBody>
        </p:sp>
        <p:sp>
          <p:nvSpPr>
            <p:cNvPr id="4" name="TextBox 4"/>
            <p:cNvSpPr txBox="1"/>
            <p:nvPr/>
          </p:nvSpPr>
          <p:spPr>
            <a:xfrm>
              <a:off x="0" y="-47625"/>
              <a:ext cx="4257223" cy="793105"/>
            </a:xfrm>
            <a:prstGeom prst="rect">
              <a:avLst/>
            </a:prstGeom>
          </p:spPr>
          <p:txBody>
            <a:bodyPr lIns="50800" tIns="50800" rIns="50800" bIns="50800" rtlCol="0" anchor="ctr"/>
            <a:lstStyle/>
            <a:p>
              <a:pPr algn="ctr">
                <a:lnSpc>
                  <a:spcPts val="2609"/>
                </a:lnSpc>
              </a:pPr>
              <a:endParaRPr/>
            </a:p>
          </p:txBody>
        </p:sp>
      </p:grpSp>
      <p:sp>
        <p:nvSpPr>
          <p:cNvPr id="5" name="TextBox 5"/>
          <p:cNvSpPr txBox="1"/>
          <p:nvPr/>
        </p:nvSpPr>
        <p:spPr>
          <a:xfrm>
            <a:off x="984402" y="723494"/>
            <a:ext cx="13569798" cy="595548"/>
          </a:xfrm>
          <a:prstGeom prst="rect">
            <a:avLst/>
          </a:prstGeom>
        </p:spPr>
        <p:txBody>
          <a:bodyPr wrap="square" lIns="0" tIns="0" rIns="0" bIns="0" rtlCol="0" anchor="t">
            <a:spAutoFit/>
          </a:bodyPr>
          <a:lstStyle/>
          <a:p>
            <a:pPr algn="l">
              <a:lnSpc>
                <a:spcPts val="4531"/>
              </a:lnSpc>
            </a:pPr>
            <a:r>
              <a:rPr lang="en-US" sz="4531" b="1" dirty="0">
                <a:solidFill>
                  <a:srgbClr val="ED8723"/>
                </a:solidFill>
                <a:latin typeface="Poppins Bold"/>
                <a:ea typeface="Poppins Bold"/>
                <a:cs typeface="Poppins Bold"/>
                <a:sym typeface="Poppins Bold"/>
              </a:rPr>
              <a:t>PROBLEM STATEMENT WITH PROBLEM ID : C2 </a:t>
            </a:r>
          </a:p>
        </p:txBody>
      </p:sp>
      <p:sp>
        <p:nvSpPr>
          <p:cNvPr id="6" name="TextBox 6"/>
          <p:cNvSpPr txBox="1"/>
          <p:nvPr/>
        </p:nvSpPr>
        <p:spPr>
          <a:xfrm>
            <a:off x="1333260" y="1785857"/>
            <a:ext cx="15143554" cy="1641475"/>
          </a:xfrm>
          <a:prstGeom prst="rect">
            <a:avLst/>
          </a:prstGeom>
        </p:spPr>
        <p:txBody>
          <a:bodyPr wrap="square" lIns="0" tIns="0" rIns="0" bIns="0" rtlCol="0" anchor="t">
            <a:spAutoFit/>
          </a:bodyPr>
          <a:lstStyle/>
          <a:p>
            <a:pPr algn="just">
              <a:lnSpc>
                <a:spcPts val="3243"/>
              </a:lnSpc>
            </a:pPr>
            <a:r>
              <a:rPr lang="en-US" sz="2800" b="1" dirty="0">
                <a:latin typeface="Poppins Medium"/>
                <a:ea typeface="Poppins Medium"/>
                <a:cs typeface="Poppins Medium"/>
                <a:sym typeface="Poppins Medium"/>
              </a:rPr>
              <a:t>API Gatekeeper </a:t>
            </a:r>
            <a:r>
              <a:rPr lang="en-US" sz="2800" b="1" dirty="0">
                <a:solidFill>
                  <a:srgbClr val="ADA4A4"/>
                </a:solidFill>
                <a:latin typeface="Poppins Medium"/>
                <a:ea typeface="Poppins Medium"/>
                <a:cs typeface="Poppins Medium"/>
                <a:sym typeface="Poppins Medium"/>
              </a:rPr>
              <a:t>- </a:t>
            </a:r>
            <a:r>
              <a:rPr lang="en-US" sz="2800" dirty="0">
                <a:latin typeface="Poppins Medium"/>
                <a:ea typeface="Poppins Medium"/>
                <a:cs typeface="Poppins Medium"/>
                <a:sym typeface="Poppins Medium"/>
              </a:rPr>
              <a:t>Backend APIs are attacked constantly with injections, bots, and abuse. Many small apps have no protection. Build a gatekeeper that inspects each request and blocks suspicious or malicious ones. It should log attacks and show a simple dashboard of what was blocked.</a:t>
            </a:r>
          </a:p>
        </p:txBody>
      </p:sp>
      <p:grpSp>
        <p:nvGrpSpPr>
          <p:cNvPr id="7" name="Group 7"/>
          <p:cNvGrpSpPr/>
          <p:nvPr/>
        </p:nvGrpSpPr>
        <p:grpSpPr>
          <a:xfrm>
            <a:off x="984402" y="5311172"/>
            <a:ext cx="16223220" cy="2683184"/>
            <a:chOff x="0" y="0"/>
            <a:chExt cx="4257223" cy="704109"/>
          </a:xfrm>
        </p:grpSpPr>
        <p:sp>
          <p:nvSpPr>
            <p:cNvPr id="8" name="Freeform 8"/>
            <p:cNvSpPr/>
            <p:nvPr/>
          </p:nvSpPr>
          <p:spPr>
            <a:xfrm>
              <a:off x="0" y="0"/>
              <a:ext cx="4257223" cy="704109"/>
            </a:xfrm>
            <a:custGeom>
              <a:avLst/>
              <a:gdLst/>
              <a:ahLst/>
              <a:cxnLst/>
              <a:rect l="l" t="t" r="r" b="b"/>
              <a:pathLst>
                <a:path w="4257223" h="704109">
                  <a:moveTo>
                    <a:pt x="0" y="0"/>
                  </a:moveTo>
                  <a:lnTo>
                    <a:pt x="4257223" y="0"/>
                  </a:lnTo>
                  <a:lnTo>
                    <a:pt x="4257223" y="704109"/>
                  </a:lnTo>
                  <a:lnTo>
                    <a:pt x="0" y="704109"/>
                  </a:lnTo>
                  <a:close/>
                </a:path>
              </a:pathLst>
            </a:custGeom>
            <a:solidFill>
              <a:srgbClr val="EEEBEB"/>
            </a:solidFill>
          </p:spPr>
          <p:txBody>
            <a:bodyPr/>
            <a:lstStyle/>
            <a:p>
              <a:endParaRPr lang="en-ID"/>
            </a:p>
          </p:txBody>
        </p:sp>
        <p:sp>
          <p:nvSpPr>
            <p:cNvPr id="9" name="TextBox 9"/>
            <p:cNvSpPr txBox="1"/>
            <p:nvPr/>
          </p:nvSpPr>
          <p:spPr>
            <a:xfrm>
              <a:off x="0" y="-47625"/>
              <a:ext cx="4257223" cy="751734"/>
            </a:xfrm>
            <a:prstGeom prst="rect">
              <a:avLst/>
            </a:prstGeom>
          </p:spPr>
          <p:txBody>
            <a:bodyPr lIns="50800" tIns="50800" rIns="50800" bIns="50800" rtlCol="0" anchor="ctr"/>
            <a:lstStyle/>
            <a:p>
              <a:pPr algn="ctr">
                <a:lnSpc>
                  <a:spcPts val="2609"/>
                </a:lnSpc>
              </a:pPr>
              <a:endParaRPr/>
            </a:p>
          </p:txBody>
        </p:sp>
      </p:grpSp>
      <p:sp>
        <p:nvSpPr>
          <p:cNvPr id="10" name="TextBox 10"/>
          <p:cNvSpPr txBox="1"/>
          <p:nvPr/>
        </p:nvSpPr>
        <p:spPr>
          <a:xfrm>
            <a:off x="938095" y="4662660"/>
            <a:ext cx="11490748" cy="648512"/>
          </a:xfrm>
          <a:prstGeom prst="rect">
            <a:avLst/>
          </a:prstGeom>
        </p:spPr>
        <p:txBody>
          <a:bodyPr lIns="0" tIns="0" rIns="0" bIns="0" rtlCol="0" anchor="t">
            <a:spAutoFit/>
          </a:bodyPr>
          <a:lstStyle/>
          <a:p>
            <a:pPr algn="l">
              <a:lnSpc>
                <a:spcPts val="4531"/>
              </a:lnSpc>
            </a:pPr>
            <a:r>
              <a:rPr lang="en-US" sz="4531" b="1">
                <a:solidFill>
                  <a:srgbClr val="ED8723"/>
                </a:solidFill>
                <a:latin typeface="Poppins Bold"/>
                <a:ea typeface="Poppins Bold"/>
                <a:cs typeface="Poppins Bold"/>
                <a:sym typeface="Poppins Bold"/>
              </a:rPr>
              <a:t>PROPOSED SOLUTION </a:t>
            </a:r>
          </a:p>
        </p:txBody>
      </p:sp>
      <p:sp>
        <p:nvSpPr>
          <p:cNvPr id="11" name="TextBox 11"/>
          <p:cNvSpPr txBox="1"/>
          <p:nvPr/>
        </p:nvSpPr>
        <p:spPr>
          <a:xfrm>
            <a:off x="1080378" y="5551064"/>
            <a:ext cx="16127244" cy="2051844"/>
          </a:xfrm>
          <a:prstGeom prst="rect">
            <a:avLst/>
          </a:prstGeom>
        </p:spPr>
        <p:txBody>
          <a:bodyPr wrap="square" lIns="0" tIns="0" rIns="0" bIns="0" rtlCol="0" anchor="t">
            <a:spAutoFit/>
          </a:bodyPr>
          <a:lstStyle/>
          <a:p>
            <a:pPr algn="just">
              <a:lnSpc>
                <a:spcPts val="3243"/>
              </a:lnSpc>
            </a:pPr>
            <a:r>
              <a:rPr lang="en-US" sz="2800" dirty="0">
                <a:latin typeface="Poppins Medium"/>
                <a:ea typeface="Poppins Medium"/>
                <a:cs typeface="Poppins Medium"/>
                <a:sym typeface="Poppins Medium"/>
              </a:rPr>
              <a:t>API Gatekeeper is a lightweight reverse-proxy security gateway that protects REST APIs without backend code changes. It inspects requests, detects attacks such as injections, SSRF, bots, and request floods, and blocks suspicious traffic. It logs security events mapped to OWASP, CWE, and MITRE ATT&amp;CK, while a live dashboard displays attack analytics and a Security Scorecard measuring detection rate, false positives, and latency.</a:t>
            </a:r>
          </a:p>
        </p:txBody>
      </p:sp>
      <p:sp>
        <p:nvSpPr>
          <p:cNvPr id="12" name="Freeform 12"/>
          <p:cNvSpPr/>
          <p:nvPr/>
        </p:nvSpPr>
        <p:spPr>
          <a:xfrm>
            <a:off x="13486949" y="8799331"/>
            <a:ext cx="3772351" cy="917939"/>
          </a:xfrm>
          <a:custGeom>
            <a:avLst/>
            <a:gdLst/>
            <a:ahLst/>
            <a:cxnLst/>
            <a:rect l="l" t="t" r="r" b="b"/>
            <a:pathLst>
              <a:path w="3772351" h="917939">
                <a:moveTo>
                  <a:pt x="0" y="0"/>
                </a:moveTo>
                <a:lnTo>
                  <a:pt x="3772351" y="0"/>
                </a:lnTo>
                <a:lnTo>
                  <a:pt x="3772351" y="917938"/>
                </a:lnTo>
                <a:lnTo>
                  <a:pt x="0" y="917938"/>
                </a:lnTo>
                <a:lnTo>
                  <a:pt x="0" y="0"/>
                </a:lnTo>
                <a:close/>
              </a:path>
            </a:pathLst>
          </a:custGeom>
          <a:blipFill>
            <a:blip r:embed="rId2"/>
            <a:stretch>
              <a:fillRect/>
            </a:stretch>
          </a:blipFill>
        </p:spPr>
        <p:txBody>
          <a:bodyPr/>
          <a:lstStyle/>
          <a:p>
            <a:endParaRPr lang="en-ID"/>
          </a:p>
        </p:txBody>
      </p:sp>
      <p:sp>
        <p:nvSpPr>
          <p:cNvPr id="13" name="Freeform 13"/>
          <p:cNvSpPr/>
          <p:nvPr/>
        </p:nvSpPr>
        <p:spPr>
          <a:xfrm>
            <a:off x="7400812" y="8627881"/>
            <a:ext cx="3229808" cy="1260838"/>
          </a:xfrm>
          <a:custGeom>
            <a:avLst/>
            <a:gdLst/>
            <a:ahLst/>
            <a:cxnLst/>
            <a:rect l="l" t="t" r="r" b="b"/>
            <a:pathLst>
              <a:path w="3229808" h="1260838">
                <a:moveTo>
                  <a:pt x="0" y="0"/>
                </a:moveTo>
                <a:lnTo>
                  <a:pt x="3229807" y="0"/>
                </a:lnTo>
                <a:lnTo>
                  <a:pt x="3229807" y="1260838"/>
                </a:lnTo>
                <a:lnTo>
                  <a:pt x="0" y="1260838"/>
                </a:lnTo>
                <a:lnTo>
                  <a:pt x="0" y="0"/>
                </a:lnTo>
                <a:close/>
              </a:path>
            </a:pathLst>
          </a:custGeom>
          <a:blipFill>
            <a:blip r:embed="rId3"/>
            <a:stretch>
              <a:fillRect t="-47588" b="-57342"/>
            </a:stretch>
          </a:blipFill>
        </p:spPr>
        <p:txBody>
          <a:bodyPr/>
          <a:lstStyle/>
          <a:p>
            <a:endParaRPr lang="en-ID"/>
          </a:p>
        </p:txBody>
      </p:sp>
      <p:sp>
        <p:nvSpPr>
          <p:cNvPr id="14" name="Freeform 14"/>
          <p:cNvSpPr/>
          <p:nvPr/>
        </p:nvSpPr>
        <p:spPr>
          <a:xfrm>
            <a:off x="495096" y="8866924"/>
            <a:ext cx="4061787" cy="782752"/>
          </a:xfrm>
          <a:custGeom>
            <a:avLst/>
            <a:gdLst/>
            <a:ahLst/>
            <a:cxnLst/>
            <a:rect l="l" t="t" r="r" b="b"/>
            <a:pathLst>
              <a:path w="4061787" h="782752">
                <a:moveTo>
                  <a:pt x="0" y="0"/>
                </a:moveTo>
                <a:lnTo>
                  <a:pt x="4061787" y="0"/>
                </a:lnTo>
                <a:lnTo>
                  <a:pt x="4061787" y="782752"/>
                </a:lnTo>
                <a:lnTo>
                  <a:pt x="0" y="782752"/>
                </a:lnTo>
                <a:lnTo>
                  <a:pt x="0" y="0"/>
                </a:lnTo>
                <a:close/>
              </a:path>
            </a:pathLst>
          </a:custGeom>
          <a:blipFill>
            <a:blip r:embed="rId4"/>
            <a:stretch>
              <a:fillRect t="-276397" b="-272240"/>
            </a:stretch>
          </a:blipFill>
        </p:spPr>
        <p:txBody>
          <a:bodyPr/>
          <a:lstStyle/>
          <a:p>
            <a:endParaRPr lang="en-ID"/>
          </a:p>
        </p:txBody>
      </p:sp>
      <p:sp>
        <p:nvSpPr>
          <p:cNvPr id="15" name="Freeform 15"/>
          <p:cNvSpPr/>
          <p:nvPr/>
        </p:nvSpPr>
        <p:spPr>
          <a:xfrm>
            <a:off x="495096" y="8450726"/>
            <a:ext cx="17434852" cy="229572"/>
          </a:xfrm>
          <a:custGeom>
            <a:avLst/>
            <a:gdLst/>
            <a:ahLst/>
            <a:cxnLst/>
            <a:rect l="l" t="t" r="r" b="b"/>
            <a:pathLst>
              <a:path w="17434852" h="229572">
                <a:moveTo>
                  <a:pt x="0" y="0"/>
                </a:moveTo>
                <a:lnTo>
                  <a:pt x="17434852" y="0"/>
                </a:lnTo>
                <a:lnTo>
                  <a:pt x="17434852" y="229572"/>
                </a:lnTo>
                <a:lnTo>
                  <a:pt x="0" y="229572"/>
                </a:lnTo>
                <a:lnTo>
                  <a:pt x="0" y="0"/>
                </a:lnTo>
                <a:close/>
              </a:path>
            </a:pathLst>
          </a:custGeom>
          <a:blipFill>
            <a:blip r:embed="rId5"/>
            <a:stretch>
              <a:fillRect/>
            </a:stretch>
          </a:blipFill>
        </p:spPr>
        <p:txBody>
          <a:bodyPr/>
          <a:lstStyle/>
          <a:p>
            <a:endParaRPr lang="en-ID"/>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45330" y="1510770"/>
            <a:ext cx="1968804" cy="229572"/>
          </a:xfrm>
          <a:custGeom>
            <a:avLst/>
            <a:gdLst/>
            <a:ahLst/>
            <a:cxnLst/>
            <a:rect l="l" t="t" r="r" b="b"/>
            <a:pathLst>
              <a:path w="1968804" h="229572">
                <a:moveTo>
                  <a:pt x="0" y="0"/>
                </a:moveTo>
                <a:lnTo>
                  <a:pt x="1968804" y="0"/>
                </a:lnTo>
                <a:lnTo>
                  <a:pt x="1968804" y="229572"/>
                </a:lnTo>
                <a:lnTo>
                  <a:pt x="0" y="229572"/>
                </a:lnTo>
                <a:lnTo>
                  <a:pt x="0" y="0"/>
                </a:lnTo>
                <a:close/>
              </a:path>
            </a:pathLst>
          </a:custGeom>
          <a:blipFill>
            <a:blip r:embed="rId2"/>
            <a:stretch>
              <a:fillRect/>
            </a:stretch>
          </a:blipFill>
        </p:spPr>
        <p:txBody>
          <a:bodyPr/>
          <a:lstStyle/>
          <a:p>
            <a:endParaRPr lang="en-ID"/>
          </a:p>
        </p:txBody>
      </p:sp>
      <p:sp>
        <p:nvSpPr>
          <p:cNvPr id="3" name="Freeform 3"/>
          <p:cNvSpPr/>
          <p:nvPr/>
        </p:nvSpPr>
        <p:spPr>
          <a:xfrm>
            <a:off x="1957866" y="2133994"/>
            <a:ext cx="229694" cy="1082267"/>
          </a:xfrm>
          <a:custGeom>
            <a:avLst/>
            <a:gdLst/>
            <a:ahLst/>
            <a:cxnLst/>
            <a:rect l="l" t="t" r="r" b="b"/>
            <a:pathLst>
              <a:path w="229694" h="1082267">
                <a:moveTo>
                  <a:pt x="0" y="0"/>
                </a:moveTo>
                <a:lnTo>
                  <a:pt x="229694" y="0"/>
                </a:lnTo>
                <a:lnTo>
                  <a:pt x="229694" y="1082267"/>
                </a:lnTo>
                <a:lnTo>
                  <a:pt x="0" y="1082267"/>
                </a:lnTo>
                <a:lnTo>
                  <a:pt x="0" y="0"/>
                </a:lnTo>
                <a:close/>
              </a:path>
            </a:pathLst>
          </a:custGeom>
          <a:blipFill>
            <a:blip r:embed="rId3"/>
            <a:stretch>
              <a:fillRect/>
            </a:stretch>
          </a:blipFill>
        </p:spPr>
        <p:txBody>
          <a:bodyPr/>
          <a:lstStyle/>
          <a:p>
            <a:endParaRPr lang="en-ID"/>
          </a:p>
        </p:txBody>
      </p:sp>
      <p:sp>
        <p:nvSpPr>
          <p:cNvPr id="4" name="Freeform 4"/>
          <p:cNvSpPr/>
          <p:nvPr/>
        </p:nvSpPr>
        <p:spPr>
          <a:xfrm>
            <a:off x="7612708" y="2133994"/>
            <a:ext cx="229694" cy="1082267"/>
          </a:xfrm>
          <a:custGeom>
            <a:avLst/>
            <a:gdLst/>
            <a:ahLst/>
            <a:cxnLst/>
            <a:rect l="l" t="t" r="r" b="b"/>
            <a:pathLst>
              <a:path w="229694" h="1082267">
                <a:moveTo>
                  <a:pt x="0" y="0"/>
                </a:moveTo>
                <a:lnTo>
                  <a:pt x="229694" y="0"/>
                </a:lnTo>
                <a:lnTo>
                  <a:pt x="229694" y="1082267"/>
                </a:lnTo>
                <a:lnTo>
                  <a:pt x="0" y="1082267"/>
                </a:lnTo>
                <a:lnTo>
                  <a:pt x="0" y="0"/>
                </a:lnTo>
                <a:close/>
              </a:path>
            </a:pathLst>
          </a:custGeom>
          <a:blipFill>
            <a:blip r:embed="rId4"/>
            <a:stretch>
              <a:fillRect/>
            </a:stretch>
          </a:blipFill>
        </p:spPr>
        <p:txBody>
          <a:bodyPr/>
          <a:lstStyle/>
          <a:p>
            <a:endParaRPr lang="en-ID"/>
          </a:p>
        </p:txBody>
      </p:sp>
      <p:sp>
        <p:nvSpPr>
          <p:cNvPr id="5" name="Freeform 5"/>
          <p:cNvSpPr/>
          <p:nvPr/>
        </p:nvSpPr>
        <p:spPr>
          <a:xfrm>
            <a:off x="12840976" y="2133994"/>
            <a:ext cx="229694" cy="1082267"/>
          </a:xfrm>
          <a:custGeom>
            <a:avLst/>
            <a:gdLst/>
            <a:ahLst/>
            <a:cxnLst/>
            <a:rect l="l" t="t" r="r" b="b"/>
            <a:pathLst>
              <a:path w="229694" h="1082267">
                <a:moveTo>
                  <a:pt x="0" y="0"/>
                </a:moveTo>
                <a:lnTo>
                  <a:pt x="229694" y="0"/>
                </a:lnTo>
                <a:lnTo>
                  <a:pt x="229694" y="1082267"/>
                </a:lnTo>
                <a:lnTo>
                  <a:pt x="0" y="1082267"/>
                </a:lnTo>
                <a:lnTo>
                  <a:pt x="0" y="0"/>
                </a:lnTo>
                <a:close/>
              </a:path>
            </a:pathLst>
          </a:custGeom>
          <a:blipFill>
            <a:blip r:embed="rId5"/>
            <a:stretch>
              <a:fillRect/>
            </a:stretch>
          </a:blipFill>
        </p:spPr>
        <p:txBody>
          <a:bodyPr/>
          <a:lstStyle/>
          <a:p>
            <a:endParaRPr lang="en-ID"/>
          </a:p>
        </p:txBody>
      </p:sp>
      <p:sp>
        <p:nvSpPr>
          <p:cNvPr id="6" name="Freeform 6"/>
          <p:cNvSpPr/>
          <p:nvPr/>
        </p:nvSpPr>
        <p:spPr>
          <a:xfrm>
            <a:off x="1957866" y="5140290"/>
            <a:ext cx="229694" cy="863627"/>
          </a:xfrm>
          <a:custGeom>
            <a:avLst/>
            <a:gdLst/>
            <a:ahLst/>
            <a:cxnLst/>
            <a:rect l="l" t="t" r="r" b="b"/>
            <a:pathLst>
              <a:path w="229694" h="863627">
                <a:moveTo>
                  <a:pt x="0" y="0"/>
                </a:moveTo>
                <a:lnTo>
                  <a:pt x="229694" y="0"/>
                </a:lnTo>
                <a:lnTo>
                  <a:pt x="229694" y="863627"/>
                </a:lnTo>
                <a:lnTo>
                  <a:pt x="0" y="863627"/>
                </a:lnTo>
                <a:lnTo>
                  <a:pt x="0" y="0"/>
                </a:lnTo>
                <a:close/>
              </a:path>
            </a:pathLst>
          </a:custGeom>
          <a:blipFill>
            <a:blip r:embed="rId6"/>
            <a:stretch>
              <a:fillRect/>
            </a:stretch>
          </a:blipFill>
        </p:spPr>
        <p:txBody>
          <a:bodyPr/>
          <a:lstStyle/>
          <a:p>
            <a:endParaRPr lang="en-ID"/>
          </a:p>
        </p:txBody>
      </p:sp>
      <p:sp>
        <p:nvSpPr>
          <p:cNvPr id="7" name="Freeform 7"/>
          <p:cNvSpPr/>
          <p:nvPr/>
        </p:nvSpPr>
        <p:spPr>
          <a:xfrm>
            <a:off x="7612708" y="5140290"/>
            <a:ext cx="229694" cy="863627"/>
          </a:xfrm>
          <a:custGeom>
            <a:avLst/>
            <a:gdLst/>
            <a:ahLst/>
            <a:cxnLst/>
            <a:rect l="l" t="t" r="r" b="b"/>
            <a:pathLst>
              <a:path w="229694" h="863627">
                <a:moveTo>
                  <a:pt x="0" y="0"/>
                </a:moveTo>
                <a:lnTo>
                  <a:pt x="229694" y="0"/>
                </a:lnTo>
                <a:lnTo>
                  <a:pt x="229694" y="863627"/>
                </a:lnTo>
                <a:lnTo>
                  <a:pt x="0" y="863627"/>
                </a:lnTo>
                <a:lnTo>
                  <a:pt x="0" y="0"/>
                </a:lnTo>
                <a:close/>
              </a:path>
            </a:pathLst>
          </a:custGeom>
          <a:blipFill>
            <a:blip r:embed="rId7"/>
            <a:stretch>
              <a:fillRect/>
            </a:stretch>
          </a:blipFill>
        </p:spPr>
        <p:txBody>
          <a:bodyPr/>
          <a:lstStyle/>
          <a:p>
            <a:endParaRPr lang="en-ID"/>
          </a:p>
        </p:txBody>
      </p:sp>
      <p:sp>
        <p:nvSpPr>
          <p:cNvPr id="8" name="Freeform 8"/>
          <p:cNvSpPr/>
          <p:nvPr/>
        </p:nvSpPr>
        <p:spPr>
          <a:xfrm>
            <a:off x="12782593" y="5249485"/>
            <a:ext cx="229694" cy="863627"/>
          </a:xfrm>
          <a:custGeom>
            <a:avLst/>
            <a:gdLst/>
            <a:ahLst/>
            <a:cxnLst/>
            <a:rect l="l" t="t" r="r" b="b"/>
            <a:pathLst>
              <a:path w="229694" h="863627">
                <a:moveTo>
                  <a:pt x="0" y="0"/>
                </a:moveTo>
                <a:lnTo>
                  <a:pt x="229693" y="0"/>
                </a:lnTo>
                <a:lnTo>
                  <a:pt x="229693" y="863627"/>
                </a:lnTo>
                <a:lnTo>
                  <a:pt x="0" y="863627"/>
                </a:lnTo>
                <a:lnTo>
                  <a:pt x="0" y="0"/>
                </a:lnTo>
                <a:close/>
              </a:path>
            </a:pathLst>
          </a:custGeom>
          <a:blipFill>
            <a:blip r:embed="rId8"/>
            <a:stretch>
              <a:fillRect/>
            </a:stretch>
          </a:blipFill>
        </p:spPr>
        <p:txBody>
          <a:bodyPr/>
          <a:lstStyle/>
          <a:p>
            <a:endParaRPr lang="en-ID"/>
          </a:p>
        </p:txBody>
      </p:sp>
      <p:sp>
        <p:nvSpPr>
          <p:cNvPr id="9" name="TextBox 9"/>
          <p:cNvSpPr txBox="1"/>
          <p:nvPr/>
        </p:nvSpPr>
        <p:spPr>
          <a:xfrm>
            <a:off x="626838" y="497191"/>
            <a:ext cx="9646658" cy="930646"/>
          </a:xfrm>
          <a:prstGeom prst="rect">
            <a:avLst/>
          </a:prstGeom>
        </p:spPr>
        <p:txBody>
          <a:bodyPr lIns="0" tIns="0" rIns="0" bIns="0" rtlCol="0" anchor="t">
            <a:spAutoFit/>
          </a:bodyPr>
          <a:lstStyle/>
          <a:p>
            <a:pPr algn="l">
              <a:lnSpc>
                <a:spcPts val="6566"/>
              </a:lnSpc>
            </a:pPr>
            <a:r>
              <a:rPr lang="en-US" sz="6566" b="1">
                <a:solidFill>
                  <a:srgbClr val="102A43"/>
                </a:solidFill>
                <a:latin typeface="Poppins Bold"/>
                <a:ea typeface="Poppins Bold"/>
                <a:cs typeface="Poppins Bold"/>
                <a:sym typeface="Poppins Bold"/>
              </a:rPr>
              <a:t>TECHNOLOGY STACK </a:t>
            </a:r>
          </a:p>
        </p:txBody>
      </p:sp>
      <p:sp>
        <p:nvSpPr>
          <p:cNvPr id="10" name="TextBox 10"/>
          <p:cNvSpPr txBox="1"/>
          <p:nvPr/>
        </p:nvSpPr>
        <p:spPr>
          <a:xfrm>
            <a:off x="1145508" y="2294609"/>
            <a:ext cx="766688" cy="737282"/>
          </a:xfrm>
          <a:prstGeom prst="rect">
            <a:avLst/>
          </a:prstGeom>
        </p:spPr>
        <p:txBody>
          <a:bodyPr lIns="0" tIns="0" rIns="0" bIns="0" rtlCol="0" anchor="t">
            <a:spAutoFit/>
          </a:bodyPr>
          <a:lstStyle/>
          <a:p>
            <a:pPr algn="ctr">
              <a:lnSpc>
                <a:spcPts val="5277"/>
              </a:lnSpc>
            </a:pPr>
            <a:r>
              <a:rPr lang="en-US" sz="5277" b="1" spc="-105">
                <a:solidFill>
                  <a:srgbClr val="F08722"/>
                </a:solidFill>
                <a:latin typeface="Poppins Bold"/>
                <a:ea typeface="Poppins Bold"/>
                <a:cs typeface="Poppins Bold"/>
                <a:sym typeface="Poppins Bold"/>
              </a:rPr>
              <a:t>01</a:t>
            </a:r>
          </a:p>
        </p:txBody>
      </p:sp>
      <p:sp>
        <p:nvSpPr>
          <p:cNvPr id="11" name="TextBox 11"/>
          <p:cNvSpPr txBox="1"/>
          <p:nvPr/>
        </p:nvSpPr>
        <p:spPr>
          <a:xfrm>
            <a:off x="2279888" y="2287341"/>
            <a:ext cx="2397183" cy="2522357"/>
          </a:xfrm>
          <a:prstGeom prst="rect">
            <a:avLst/>
          </a:prstGeom>
        </p:spPr>
        <p:txBody>
          <a:bodyPr lIns="0" tIns="0" rIns="0" bIns="0" rtlCol="0" anchor="t">
            <a:spAutoFit/>
          </a:bodyPr>
          <a:lstStyle/>
          <a:p>
            <a:pPr algn="l">
              <a:lnSpc>
                <a:spcPts val="3090"/>
              </a:lnSpc>
            </a:pPr>
            <a:r>
              <a:rPr lang="en-US" sz="2575" b="1" spc="-51" dirty="0">
                <a:solidFill>
                  <a:srgbClr val="102A43"/>
                </a:solidFill>
                <a:latin typeface="Roboto Condensed Bold"/>
                <a:ea typeface="Roboto Condensed Bold"/>
                <a:cs typeface="Roboto Condensed Bold"/>
                <a:sym typeface="Roboto Condensed Bold"/>
              </a:rPr>
              <a:t>PROGRAMMING</a:t>
            </a:r>
          </a:p>
          <a:p>
            <a:pPr>
              <a:lnSpc>
                <a:spcPct val="100000"/>
              </a:lnSpc>
            </a:pPr>
            <a:r>
              <a:rPr lang="en-US" sz="2575" b="1" spc="-51" dirty="0">
                <a:solidFill>
                  <a:srgbClr val="102A43"/>
                </a:solidFill>
                <a:latin typeface="Roboto Condensed Bold"/>
                <a:ea typeface="Roboto Condensed Bold"/>
                <a:cs typeface="Roboto Condensed Bold"/>
                <a:sym typeface="Roboto Condensed Bold"/>
              </a:rPr>
              <a:t>LANGUAGES: </a:t>
            </a:r>
            <a:endParaRPr lang="en-ID" sz="2575" b="1" spc="-51" dirty="0">
              <a:solidFill>
                <a:srgbClr val="102A43"/>
              </a:solidFill>
              <a:latin typeface="Roboto Condensed Bold"/>
              <a:ea typeface="Roboto Condensed Bold"/>
              <a:cs typeface="Roboto Condensed Bold"/>
              <a:sym typeface="Roboto Condensed Bold"/>
            </a:endParaRPr>
          </a:p>
          <a:p>
            <a:endParaRPr lang="en-ID" b="1" dirty="0"/>
          </a:p>
          <a:p>
            <a:endParaRPr lang="en-ID" dirty="0"/>
          </a:p>
          <a:p>
            <a:pPr>
              <a:lnSpc>
                <a:spcPct val="100000"/>
              </a:lnSpc>
            </a:pPr>
            <a:endParaRPr lang="en-US" sz="2575" b="1" spc="-51" dirty="0">
              <a:solidFill>
                <a:srgbClr val="102A43"/>
              </a:solidFill>
              <a:latin typeface="Roboto Condensed Bold"/>
              <a:ea typeface="Roboto Condensed Bold"/>
              <a:cs typeface="Roboto Condensed Bold"/>
              <a:sym typeface="Roboto Condensed Bold"/>
            </a:endParaRPr>
          </a:p>
          <a:p>
            <a:pPr algn="l">
              <a:lnSpc>
                <a:spcPts val="3090"/>
              </a:lnSpc>
            </a:pPr>
            <a:endParaRPr lang="en-US" sz="2575" b="1" spc="-51" dirty="0">
              <a:solidFill>
                <a:srgbClr val="102A43"/>
              </a:solidFill>
              <a:latin typeface="Roboto Condensed Bold"/>
              <a:ea typeface="Roboto Condensed Bold"/>
              <a:cs typeface="Roboto Condensed Bold"/>
              <a:sym typeface="Roboto Condensed Bold"/>
            </a:endParaRPr>
          </a:p>
          <a:p>
            <a:pPr algn="l">
              <a:lnSpc>
                <a:spcPts val="3090"/>
              </a:lnSpc>
            </a:pPr>
            <a:endParaRPr lang="en-US" sz="2575" b="1" spc="-51" dirty="0">
              <a:solidFill>
                <a:srgbClr val="102A43"/>
              </a:solidFill>
              <a:latin typeface="Roboto Condensed Bold"/>
              <a:ea typeface="Roboto Condensed Bold"/>
              <a:cs typeface="Roboto Condensed Bold"/>
              <a:sym typeface="Roboto Condensed Bold"/>
            </a:endParaRPr>
          </a:p>
        </p:txBody>
      </p:sp>
      <p:sp>
        <p:nvSpPr>
          <p:cNvPr id="12" name="TextBox 12"/>
          <p:cNvSpPr txBox="1"/>
          <p:nvPr/>
        </p:nvSpPr>
        <p:spPr>
          <a:xfrm>
            <a:off x="6717633" y="2296519"/>
            <a:ext cx="766688" cy="723936"/>
          </a:xfrm>
          <a:prstGeom prst="rect">
            <a:avLst/>
          </a:prstGeom>
        </p:spPr>
        <p:txBody>
          <a:bodyPr lIns="0" tIns="0" rIns="0" bIns="0" rtlCol="0" anchor="t">
            <a:spAutoFit/>
          </a:bodyPr>
          <a:lstStyle/>
          <a:p>
            <a:pPr algn="ctr">
              <a:lnSpc>
                <a:spcPts val="5080"/>
              </a:lnSpc>
            </a:pPr>
            <a:r>
              <a:rPr lang="en-US" sz="5080" b="1" spc="-101">
                <a:solidFill>
                  <a:srgbClr val="F08722"/>
                </a:solidFill>
                <a:latin typeface="Poppins Bold"/>
                <a:ea typeface="Poppins Bold"/>
                <a:cs typeface="Poppins Bold"/>
                <a:sym typeface="Poppins Bold"/>
              </a:rPr>
              <a:t>02</a:t>
            </a:r>
          </a:p>
        </p:txBody>
      </p:sp>
      <p:sp>
        <p:nvSpPr>
          <p:cNvPr id="13" name="TextBox 13"/>
          <p:cNvSpPr txBox="1"/>
          <p:nvPr/>
        </p:nvSpPr>
        <p:spPr>
          <a:xfrm>
            <a:off x="7905912" y="2287341"/>
            <a:ext cx="2365051" cy="759155"/>
          </a:xfrm>
          <a:prstGeom prst="rect">
            <a:avLst/>
          </a:prstGeom>
        </p:spPr>
        <p:txBody>
          <a:bodyPr lIns="0" tIns="0" rIns="0" bIns="0" rtlCol="0" anchor="t">
            <a:spAutoFit/>
          </a:bodyPr>
          <a:lstStyle/>
          <a:p>
            <a:pPr algn="l">
              <a:lnSpc>
                <a:spcPts val="3090"/>
              </a:lnSpc>
            </a:pPr>
            <a:r>
              <a:rPr lang="en-US" sz="2575" b="1" spc="-51">
                <a:solidFill>
                  <a:srgbClr val="102A43"/>
                </a:solidFill>
                <a:latin typeface="Roboto Condensed Bold"/>
                <a:ea typeface="Roboto Condensed Bold"/>
                <a:cs typeface="Roboto Condensed Bold"/>
                <a:sym typeface="Roboto Condensed Bold"/>
              </a:rPr>
              <a:t>FRONTEND</a:t>
            </a:r>
          </a:p>
          <a:p>
            <a:pPr algn="l">
              <a:lnSpc>
                <a:spcPts val="3090"/>
              </a:lnSpc>
            </a:pPr>
            <a:r>
              <a:rPr lang="en-US" sz="2575" b="1" spc="-51">
                <a:solidFill>
                  <a:srgbClr val="102A43"/>
                </a:solidFill>
                <a:latin typeface="Roboto Condensed Bold"/>
                <a:ea typeface="Roboto Condensed Bold"/>
                <a:cs typeface="Roboto Condensed Bold"/>
                <a:sym typeface="Roboto Condensed Bold"/>
              </a:rPr>
              <a:t>TECHNOLOGIES</a:t>
            </a:r>
          </a:p>
        </p:txBody>
      </p:sp>
      <p:sp>
        <p:nvSpPr>
          <p:cNvPr id="14" name="TextBox 14"/>
          <p:cNvSpPr txBox="1"/>
          <p:nvPr/>
        </p:nvSpPr>
        <p:spPr>
          <a:xfrm>
            <a:off x="12021867" y="2307118"/>
            <a:ext cx="766688" cy="702740"/>
          </a:xfrm>
          <a:prstGeom prst="rect">
            <a:avLst/>
          </a:prstGeom>
        </p:spPr>
        <p:txBody>
          <a:bodyPr lIns="0" tIns="0" rIns="0" bIns="0" rtlCol="0" anchor="t">
            <a:spAutoFit/>
          </a:bodyPr>
          <a:lstStyle/>
          <a:p>
            <a:pPr algn="ctr">
              <a:lnSpc>
                <a:spcPts val="4948"/>
              </a:lnSpc>
            </a:pPr>
            <a:r>
              <a:rPr lang="en-US" sz="4948" b="1" spc="-99">
                <a:solidFill>
                  <a:srgbClr val="F08722"/>
                </a:solidFill>
                <a:latin typeface="Poppins Bold"/>
                <a:ea typeface="Poppins Bold"/>
                <a:cs typeface="Poppins Bold"/>
                <a:sym typeface="Poppins Bold"/>
              </a:rPr>
              <a:t>03</a:t>
            </a:r>
          </a:p>
        </p:txBody>
      </p:sp>
      <p:sp>
        <p:nvSpPr>
          <p:cNvPr id="15" name="TextBox 15"/>
          <p:cNvSpPr txBox="1"/>
          <p:nvPr/>
        </p:nvSpPr>
        <p:spPr>
          <a:xfrm>
            <a:off x="13129779" y="2287341"/>
            <a:ext cx="2365051" cy="759155"/>
          </a:xfrm>
          <a:prstGeom prst="rect">
            <a:avLst/>
          </a:prstGeom>
        </p:spPr>
        <p:txBody>
          <a:bodyPr lIns="0" tIns="0" rIns="0" bIns="0" rtlCol="0" anchor="t">
            <a:spAutoFit/>
          </a:bodyPr>
          <a:lstStyle/>
          <a:p>
            <a:pPr algn="l">
              <a:lnSpc>
                <a:spcPts val="3090"/>
              </a:lnSpc>
            </a:pPr>
            <a:r>
              <a:rPr lang="en-US" sz="2575" b="1" spc="-51">
                <a:solidFill>
                  <a:srgbClr val="102A43"/>
                </a:solidFill>
                <a:latin typeface="Roboto Condensed Bold"/>
                <a:ea typeface="Roboto Condensed Bold"/>
                <a:cs typeface="Roboto Condensed Bold"/>
                <a:sym typeface="Roboto Condensed Bold"/>
              </a:rPr>
              <a:t>BACKEND</a:t>
            </a:r>
          </a:p>
          <a:p>
            <a:pPr algn="l">
              <a:lnSpc>
                <a:spcPts val="3090"/>
              </a:lnSpc>
            </a:pPr>
            <a:r>
              <a:rPr lang="en-US" sz="2575" b="1" spc="-51">
                <a:solidFill>
                  <a:srgbClr val="102A43"/>
                </a:solidFill>
                <a:latin typeface="Roboto Condensed Bold"/>
                <a:ea typeface="Roboto Condensed Bold"/>
                <a:cs typeface="Roboto Condensed Bold"/>
                <a:sym typeface="Roboto Condensed Bold"/>
              </a:rPr>
              <a:t>TECHNOLOGIES</a:t>
            </a:r>
          </a:p>
        </p:txBody>
      </p:sp>
      <p:sp>
        <p:nvSpPr>
          <p:cNvPr id="16" name="TextBox 16"/>
          <p:cNvSpPr txBox="1"/>
          <p:nvPr/>
        </p:nvSpPr>
        <p:spPr>
          <a:xfrm>
            <a:off x="857675" y="5325422"/>
            <a:ext cx="1054521" cy="620234"/>
          </a:xfrm>
          <a:prstGeom prst="rect">
            <a:avLst/>
          </a:prstGeom>
        </p:spPr>
        <p:txBody>
          <a:bodyPr wrap="square" lIns="0" tIns="0" rIns="0" bIns="0" rtlCol="0" anchor="t">
            <a:spAutoFit/>
          </a:bodyPr>
          <a:lstStyle/>
          <a:p>
            <a:pPr algn="ctr">
              <a:lnSpc>
                <a:spcPts val="4684"/>
              </a:lnSpc>
            </a:pPr>
            <a:r>
              <a:rPr lang="en-US" sz="4684" b="1" spc="-93" dirty="0">
                <a:solidFill>
                  <a:srgbClr val="F08722"/>
                </a:solidFill>
                <a:latin typeface="Poppins Bold"/>
                <a:ea typeface="Poppins Bold"/>
                <a:cs typeface="Poppins Bold"/>
                <a:sym typeface="Poppins Bold"/>
              </a:rPr>
              <a:t>04</a:t>
            </a:r>
          </a:p>
        </p:txBody>
      </p:sp>
      <p:sp>
        <p:nvSpPr>
          <p:cNvPr id="17" name="TextBox 17"/>
          <p:cNvSpPr txBox="1"/>
          <p:nvPr/>
        </p:nvSpPr>
        <p:spPr>
          <a:xfrm>
            <a:off x="2281102" y="5274923"/>
            <a:ext cx="2275782" cy="732983"/>
          </a:xfrm>
          <a:prstGeom prst="rect">
            <a:avLst/>
          </a:prstGeom>
        </p:spPr>
        <p:txBody>
          <a:bodyPr lIns="0" tIns="0" rIns="0" bIns="0" rtlCol="0" anchor="t">
            <a:spAutoFit/>
          </a:bodyPr>
          <a:lstStyle/>
          <a:p>
            <a:pPr algn="l">
              <a:lnSpc>
                <a:spcPts val="2932"/>
              </a:lnSpc>
            </a:pPr>
            <a:r>
              <a:rPr lang="en-US" sz="2443" b="1" spc="-48">
                <a:solidFill>
                  <a:srgbClr val="102A43"/>
                </a:solidFill>
                <a:latin typeface="Roboto Condensed Bold"/>
                <a:ea typeface="Roboto Condensed Bold"/>
                <a:cs typeface="Roboto Condensed Bold"/>
                <a:sym typeface="Roboto Condensed Bold"/>
              </a:rPr>
              <a:t>DATABASE AND</a:t>
            </a:r>
          </a:p>
          <a:p>
            <a:pPr algn="l">
              <a:lnSpc>
                <a:spcPts val="2932"/>
              </a:lnSpc>
            </a:pPr>
            <a:r>
              <a:rPr lang="en-US" sz="2443" b="1" spc="-48">
                <a:solidFill>
                  <a:srgbClr val="102A43"/>
                </a:solidFill>
                <a:latin typeface="Roboto Condensed Bold"/>
                <a:ea typeface="Roboto Condensed Bold"/>
                <a:cs typeface="Roboto Condensed Bold"/>
                <a:sym typeface="Roboto Condensed Bold"/>
              </a:rPr>
              <a:t>STORAGE</a:t>
            </a:r>
          </a:p>
        </p:txBody>
      </p:sp>
      <p:sp>
        <p:nvSpPr>
          <p:cNvPr id="18" name="TextBox 18"/>
          <p:cNvSpPr txBox="1"/>
          <p:nvPr/>
        </p:nvSpPr>
        <p:spPr>
          <a:xfrm>
            <a:off x="6717633" y="5315060"/>
            <a:ext cx="766688" cy="671545"/>
          </a:xfrm>
          <a:prstGeom prst="rect">
            <a:avLst/>
          </a:prstGeom>
        </p:spPr>
        <p:txBody>
          <a:bodyPr lIns="0" tIns="0" rIns="0" bIns="0" rtlCol="0" anchor="t">
            <a:spAutoFit/>
          </a:bodyPr>
          <a:lstStyle/>
          <a:p>
            <a:pPr algn="ctr">
              <a:lnSpc>
                <a:spcPts val="4750"/>
              </a:lnSpc>
            </a:pPr>
            <a:r>
              <a:rPr lang="en-US" sz="4750" b="1" spc="-95">
                <a:solidFill>
                  <a:srgbClr val="F08722"/>
                </a:solidFill>
                <a:latin typeface="Poppins Bold"/>
                <a:ea typeface="Poppins Bold"/>
                <a:cs typeface="Poppins Bold"/>
                <a:sym typeface="Poppins Bold"/>
              </a:rPr>
              <a:t>05</a:t>
            </a:r>
          </a:p>
        </p:txBody>
      </p:sp>
      <p:sp>
        <p:nvSpPr>
          <p:cNvPr id="19" name="TextBox 19"/>
          <p:cNvSpPr txBox="1"/>
          <p:nvPr/>
        </p:nvSpPr>
        <p:spPr>
          <a:xfrm>
            <a:off x="11963484" y="5414493"/>
            <a:ext cx="766688" cy="691068"/>
          </a:xfrm>
          <a:prstGeom prst="rect">
            <a:avLst/>
          </a:prstGeom>
        </p:spPr>
        <p:txBody>
          <a:bodyPr lIns="0" tIns="0" rIns="0" bIns="0" rtlCol="0" anchor="t">
            <a:spAutoFit/>
          </a:bodyPr>
          <a:lstStyle/>
          <a:p>
            <a:pPr algn="ctr">
              <a:lnSpc>
                <a:spcPts val="4816"/>
              </a:lnSpc>
            </a:pPr>
            <a:r>
              <a:rPr lang="en-US" sz="4816" b="1" spc="-96">
                <a:solidFill>
                  <a:srgbClr val="F08722"/>
                </a:solidFill>
                <a:latin typeface="Poppins Bold"/>
                <a:ea typeface="Poppins Bold"/>
                <a:cs typeface="Poppins Bold"/>
                <a:sym typeface="Poppins Bold"/>
              </a:rPr>
              <a:t>06</a:t>
            </a:r>
          </a:p>
        </p:txBody>
      </p:sp>
      <p:sp>
        <p:nvSpPr>
          <p:cNvPr id="20" name="TextBox 20"/>
          <p:cNvSpPr txBox="1"/>
          <p:nvPr/>
        </p:nvSpPr>
        <p:spPr>
          <a:xfrm>
            <a:off x="13055743" y="5384117"/>
            <a:ext cx="3930287" cy="732983"/>
          </a:xfrm>
          <a:prstGeom prst="rect">
            <a:avLst/>
          </a:prstGeom>
        </p:spPr>
        <p:txBody>
          <a:bodyPr lIns="0" tIns="0" rIns="0" bIns="0" rtlCol="0" anchor="t">
            <a:spAutoFit/>
          </a:bodyPr>
          <a:lstStyle/>
          <a:p>
            <a:pPr algn="l">
              <a:lnSpc>
                <a:spcPts val="2932"/>
              </a:lnSpc>
            </a:pPr>
            <a:r>
              <a:rPr lang="en-US" sz="2443" b="1" spc="-48">
                <a:solidFill>
                  <a:srgbClr val="102A43"/>
                </a:solidFill>
                <a:latin typeface="Roboto Condensed Bold"/>
                <a:ea typeface="Roboto Condensed Bold"/>
                <a:cs typeface="Roboto Condensed Bold"/>
                <a:sym typeface="Roboto Condensed Bold"/>
              </a:rPr>
              <a:t>CLOUD, DEPLOYMENT</a:t>
            </a:r>
          </a:p>
          <a:p>
            <a:pPr algn="l">
              <a:lnSpc>
                <a:spcPts val="2932"/>
              </a:lnSpc>
            </a:pPr>
            <a:r>
              <a:rPr lang="en-US" sz="2443" b="1" spc="-48">
                <a:solidFill>
                  <a:srgbClr val="102A43"/>
                </a:solidFill>
                <a:latin typeface="Roboto Condensed Bold"/>
                <a:ea typeface="Roboto Condensed Bold"/>
                <a:cs typeface="Roboto Condensed Bold"/>
                <a:sym typeface="Roboto Condensed Bold"/>
              </a:rPr>
              <a:t>AND DEVELOPMENT TOOLS</a:t>
            </a:r>
          </a:p>
        </p:txBody>
      </p:sp>
      <p:sp>
        <p:nvSpPr>
          <p:cNvPr id="21" name="TextBox 21"/>
          <p:cNvSpPr txBox="1"/>
          <p:nvPr/>
        </p:nvSpPr>
        <p:spPr>
          <a:xfrm>
            <a:off x="7907396" y="5485775"/>
            <a:ext cx="2216639" cy="375986"/>
          </a:xfrm>
          <a:prstGeom prst="rect">
            <a:avLst/>
          </a:prstGeom>
        </p:spPr>
        <p:txBody>
          <a:bodyPr lIns="0" tIns="0" rIns="0" bIns="0" rtlCol="0" anchor="t">
            <a:spAutoFit/>
          </a:bodyPr>
          <a:lstStyle/>
          <a:p>
            <a:pPr algn="l">
              <a:lnSpc>
                <a:spcPts val="2932"/>
              </a:lnSpc>
            </a:pPr>
            <a:r>
              <a:rPr lang="en-US" sz="2443" b="1" spc="-48">
                <a:solidFill>
                  <a:srgbClr val="102A43"/>
                </a:solidFill>
                <a:latin typeface="Roboto Condensed Bold"/>
                <a:ea typeface="Roboto Condensed Bold"/>
                <a:cs typeface="Roboto Condensed Bold"/>
                <a:sym typeface="Roboto Condensed Bold"/>
              </a:rPr>
              <a:t>A/ML AND APIS</a:t>
            </a:r>
          </a:p>
        </p:txBody>
      </p:sp>
      <p:sp>
        <p:nvSpPr>
          <p:cNvPr id="22" name="Freeform 22"/>
          <p:cNvSpPr/>
          <p:nvPr/>
        </p:nvSpPr>
        <p:spPr>
          <a:xfrm>
            <a:off x="13486949" y="8799331"/>
            <a:ext cx="3772351" cy="917939"/>
          </a:xfrm>
          <a:custGeom>
            <a:avLst/>
            <a:gdLst/>
            <a:ahLst/>
            <a:cxnLst/>
            <a:rect l="l" t="t" r="r" b="b"/>
            <a:pathLst>
              <a:path w="3772351" h="917939">
                <a:moveTo>
                  <a:pt x="0" y="0"/>
                </a:moveTo>
                <a:lnTo>
                  <a:pt x="3772351" y="0"/>
                </a:lnTo>
                <a:lnTo>
                  <a:pt x="3772351" y="917938"/>
                </a:lnTo>
                <a:lnTo>
                  <a:pt x="0" y="917938"/>
                </a:lnTo>
                <a:lnTo>
                  <a:pt x="0" y="0"/>
                </a:lnTo>
                <a:close/>
              </a:path>
            </a:pathLst>
          </a:custGeom>
          <a:blipFill>
            <a:blip r:embed="rId9"/>
            <a:stretch>
              <a:fillRect/>
            </a:stretch>
          </a:blipFill>
        </p:spPr>
        <p:txBody>
          <a:bodyPr/>
          <a:lstStyle/>
          <a:p>
            <a:endParaRPr lang="en-ID"/>
          </a:p>
        </p:txBody>
      </p:sp>
      <p:sp>
        <p:nvSpPr>
          <p:cNvPr id="23" name="Freeform 23"/>
          <p:cNvSpPr/>
          <p:nvPr/>
        </p:nvSpPr>
        <p:spPr>
          <a:xfrm>
            <a:off x="7400812" y="8627881"/>
            <a:ext cx="3229808" cy="1260838"/>
          </a:xfrm>
          <a:custGeom>
            <a:avLst/>
            <a:gdLst/>
            <a:ahLst/>
            <a:cxnLst/>
            <a:rect l="l" t="t" r="r" b="b"/>
            <a:pathLst>
              <a:path w="3229808" h="1260838">
                <a:moveTo>
                  <a:pt x="0" y="0"/>
                </a:moveTo>
                <a:lnTo>
                  <a:pt x="3229807" y="0"/>
                </a:lnTo>
                <a:lnTo>
                  <a:pt x="3229807" y="1260838"/>
                </a:lnTo>
                <a:lnTo>
                  <a:pt x="0" y="1260838"/>
                </a:lnTo>
                <a:lnTo>
                  <a:pt x="0" y="0"/>
                </a:lnTo>
                <a:close/>
              </a:path>
            </a:pathLst>
          </a:custGeom>
          <a:blipFill>
            <a:blip r:embed="rId10"/>
            <a:stretch>
              <a:fillRect t="-47588" b="-57342"/>
            </a:stretch>
          </a:blipFill>
        </p:spPr>
        <p:txBody>
          <a:bodyPr/>
          <a:lstStyle/>
          <a:p>
            <a:endParaRPr lang="en-ID"/>
          </a:p>
        </p:txBody>
      </p:sp>
      <p:sp>
        <p:nvSpPr>
          <p:cNvPr id="24" name="Freeform 24"/>
          <p:cNvSpPr/>
          <p:nvPr/>
        </p:nvSpPr>
        <p:spPr>
          <a:xfrm>
            <a:off x="495096" y="8866924"/>
            <a:ext cx="4061787" cy="782752"/>
          </a:xfrm>
          <a:custGeom>
            <a:avLst/>
            <a:gdLst/>
            <a:ahLst/>
            <a:cxnLst/>
            <a:rect l="l" t="t" r="r" b="b"/>
            <a:pathLst>
              <a:path w="4061787" h="782752">
                <a:moveTo>
                  <a:pt x="0" y="0"/>
                </a:moveTo>
                <a:lnTo>
                  <a:pt x="4061787" y="0"/>
                </a:lnTo>
                <a:lnTo>
                  <a:pt x="4061787" y="782752"/>
                </a:lnTo>
                <a:lnTo>
                  <a:pt x="0" y="782752"/>
                </a:lnTo>
                <a:lnTo>
                  <a:pt x="0" y="0"/>
                </a:lnTo>
                <a:close/>
              </a:path>
            </a:pathLst>
          </a:custGeom>
          <a:blipFill>
            <a:blip r:embed="rId11"/>
            <a:stretch>
              <a:fillRect t="-276397" b="-272240"/>
            </a:stretch>
          </a:blipFill>
        </p:spPr>
        <p:txBody>
          <a:bodyPr/>
          <a:lstStyle/>
          <a:p>
            <a:endParaRPr lang="en-ID"/>
          </a:p>
        </p:txBody>
      </p:sp>
      <p:sp>
        <p:nvSpPr>
          <p:cNvPr id="25" name="Freeform 25"/>
          <p:cNvSpPr/>
          <p:nvPr/>
        </p:nvSpPr>
        <p:spPr>
          <a:xfrm>
            <a:off x="495096" y="8450726"/>
            <a:ext cx="17434852" cy="229572"/>
          </a:xfrm>
          <a:custGeom>
            <a:avLst/>
            <a:gdLst/>
            <a:ahLst/>
            <a:cxnLst/>
            <a:rect l="l" t="t" r="r" b="b"/>
            <a:pathLst>
              <a:path w="17434852" h="229572">
                <a:moveTo>
                  <a:pt x="0" y="0"/>
                </a:moveTo>
                <a:lnTo>
                  <a:pt x="17434852" y="0"/>
                </a:lnTo>
                <a:lnTo>
                  <a:pt x="17434852" y="229572"/>
                </a:lnTo>
                <a:lnTo>
                  <a:pt x="0" y="229572"/>
                </a:lnTo>
                <a:lnTo>
                  <a:pt x="0" y="0"/>
                </a:lnTo>
                <a:close/>
              </a:path>
            </a:pathLst>
          </a:custGeom>
          <a:blipFill>
            <a:blip r:embed="rId12"/>
            <a:stretch>
              <a:fillRect/>
            </a:stretch>
          </a:blipFill>
        </p:spPr>
        <p:txBody>
          <a:bodyPr/>
          <a:lstStyle/>
          <a:p>
            <a:endParaRPr lang="en-ID"/>
          </a:p>
        </p:txBody>
      </p:sp>
      <p:pic>
        <p:nvPicPr>
          <p:cNvPr id="27" name="Picture 26">
            <a:extLst>
              <a:ext uri="{FF2B5EF4-FFF2-40B4-BE49-F238E27FC236}">
                <a16:creationId xmlns:a16="http://schemas.microsoft.com/office/drawing/2014/main" id="{D6953DBD-BA8D-8049-686E-57895B4A619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880677" y="3127474"/>
            <a:ext cx="4224724" cy="1734284"/>
          </a:xfrm>
          <a:prstGeom prst="rect">
            <a:avLst/>
          </a:prstGeom>
        </p:spPr>
      </p:pic>
      <p:pic>
        <p:nvPicPr>
          <p:cNvPr id="29" name="Picture 28">
            <a:extLst>
              <a:ext uri="{FF2B5EF4-FFF2-40B4-BE49-F238E27FC236}">
                <a16:creationId xmlns:a16="http://schemas.microsoft.com/office/drawing/2014/main" id="{5556D216-9898-E86D-9FAD-02EA082E7F00}"/>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458923" y="3009858"/>
            <a:ext cx="3971437" cy="1777060"/>
          </a:xfrm>
          <a:prstGeom prst="rect">
            <a:avLst/>
          </a:prstGeom>
        </p:spPr>
      </p:pic>
      <p:pic>
        <p:nvPicPr>
          <p:cNvPr id="31" name="Picture 30">
            <a:extLst>
              <a:ext uri="{FF2B5EF4-FFF2-40B4-BE49-F238E27FC236}">
                <a16:creationId xmlns:a16="http://schemas.microsoft.com/office/drawing/2014/main" id="{0CB935C8-7BA1-AC4A-5494-341C0B3F8832}"/>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2374731" y="3069328"/>
            <a:ext cx="3930287" cy="1691446"/>
          </a:xfrm>
          <a:prstGeom prst="rect">
            <a:avLst/>
          </a:prstGeom>
        </p:spPr>
      </p:pic>
      <p:pic>
        <p:nvPicPr>
          <p:cNvPr id="33" name="Picture 32">
            <a:extLst>
              <a:ext uri="{FF2B5EF4-FFF2-40B4-BE49-F238E27FC236}">
                <a16:creationId xmlns:a16="http://schemas.microsoft.com/office/drawing/2014/main" id="{A646CB5C-7E87-F163-D2A1-54380F1A91C1}"/>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013092" y="6132282"/>
            <a:ext cx="3959893" cy="1914525"/>
          </a:xfrm>
          <a:prstGeom prst="rect">
            <a:avLst/>
          </a:prstGeom>
        </p:spPr>
      </p:pic>
      <p:pic>
        <p:nvPicPr>
          <p:cNvPr id="35" name="Picture 34">
            <a:extLst>
              <a:ext uri="{FF2B5EF4-FFF2-40B4-BE49-F238E27FC236}">
                <a16:creationId xmlns:a16="http://schemas.microsoft.com/office/drawing/2014/main" id="{B314D15F-8F24-5A4F-88C1-8555AABFE324}"/>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6248400" y="6105561"/>
            <a:ext cx="4971077" cy="1864154"/>
          </a:xfrm>
          <a:prstGeom prst="rect">
            <a:avLst/>
          </a:prstGeom>
        </p:spPr>
      </p:pic>
      <p:pic>
        <p:nvPicPr>
          <p:cNvPr id="37" name="Picture 36">
            <a:extLst>
              <a:ext uri="{FF2B5EF4-FFF2-40B4-BE49-F238E27FC236}">
                <a16:creationId xmlns:a16="http://schemas.microsoft.com/office/drawing/2014/main" id="{0DD384DB-34A7-68A0-432A-71631A9121FB}"/>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2221514" y="6163352"/>
            <a:ext cx="5022546" cy="188345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57015" y="517956"/>
            <a:ext cx="11986793" cy="941481"/>
          </a:xfrm>
          <a:prstGeom prst="rect">
            <a:avLst/>
          </a:prstGeom>
        </p:spPr>
        <p:txBody>
          <a:bodyPr lIns="0" tIns="0" rIns="0" bIns="0" rtlCol="0" anchor="t">
            <a:spAutoFit/>
          </a:bodyPr>
          <a:lstStyle/>
          <a:p>
            <a:pPr algn="l">
              <a:lnSpc>
                <a:spcPts val="6665"/>
              </a:lnSpc>
            </a:pPr>
            <a:r>
              <a:rPr lang="en-US" sz="6665" b="1">
                <a:solidFill>
                  <a:srgbClr val="102A43"/>
                </a:solidFill>
                <a:latin typeface="Poppins Heavy"/>
                <a:ea typeface="Poppins Heavy"/>
                <a:cs typeface="Poppins Heavy"/>
                <a:sym typeface="Poppins Heavy"/>
              </a:rPr>
              <a:t>SOLUTION ARCHITECTURE &amp;</a:t>
            </a:r>
          </a:p>
        </p:txBody>
      </p:sp>
      <p:sp>
        <p:nvSpPr>
          <p:cNvPr id="3" name="TextBox 3"/>
          <p:cNvSpPr txBox="1"/>
          <p:nvPr/>
        </p:nvSpPr>
        <p:spPr>
          <a:xfrm>
            <a:off x="685002" y="1452955"/>
            <a:ext cx="9188117" cy="878783"/>
          </a:xfrm>
          <a:prstGeom prst="rect">
            <a:avLst/>
          </a:prstGeom>
        </p:spPr>
        <p:txBody>
          <a:bodyPr lIns="0" tIns="0" rIns="0" bIns="0" rtlCol="0" anchor="t">
            <a:spAutoFit/>
          </a:bodyPr>
          <a:lstStyle/>
          <a:p>
            <a:pPr algn="l">
              <a:lnSpc>
                <a:spcPts val="6305"/>
              </a:lnSpc>
            </a:pPr>
            <a:r>
              <a:rPr lang="en-US" sz="6305" b="1">
                <a:solidFill>
                  <a:srgbClr val="0766F6"/>
                </a:solidFill>
                <a:latin typeface="Poppins Heavy"/>
                <a:ea typeface="Poppins Heavy"/>
                <a:cs typeface="Poppins Heavy"/>
                <a:sym typeface="Poppins Heavy"/>
              </a:rPr>
              <a:t>WORKFLOW DIAGRAM</a:t>
            </a:r>
          </a:p>
        </p:txBody>
      </p:sp>
      <p:sp>
        <p:nvSpPr>
          <p:cNvPr id="4" name="Freeform 4"/>
          <p:cNvSpPr/>
          <p:nvPr/>
        </p:nvSpPr>
        <p:spPr>
          <a:xfrm>
            <a:off x="645330" y="2350377"/>
            <a:ext cx="1968804" cy="229572"/>
          </a:xfrm>
          <a:custGeom>
            <a:avLst/>
            <a:gdLst/>
            <a:ahLst/>
            <a:cxnLst/>
            <a:rect l="l" t="t" r="r" b="b"/>
            <a:pathLst>
              <a:path w="1968804" h="229572">
                <a:moveTo>
                  <a:pt x="0" y="0"/>
                </a:moveTo>
                <a:lnTo>
                  <a:pt x="1968804" y="0"/>
                </a:lnTo>
                <a:lnTo>
                  <a:pt x="1968804" y="229572"/>
                </a:lnTo>
                <a:lnTo>
                  <a:pt x="0" y="229572"/>
                </a:lnTo>
                <a:lnTo>
                  <a:pt x="0" y="0"/>
                </a:lnTo>
                <a:close/>
              </a:path>
            </a:pathLst>
          </a:custGeom>
          <a:blipFill>
            <a:blip r:embed="rId2"/>
            <a:stretch>
              <a:fillRect/>
            </a:stretch>
          </a:blipFill>
        </p:spPr>
        <p:txBody>
          <a:bodyPr/>
          <a:lstStyle/>
          <a:p>
            <a:endParaRPr lang="en-ID"/>
          </a:p>
        </p:txBody>
      </p:sp>
      <p:sp>
        <p:nvSpPr>
          <p:cNvPr id="5" name="Freeform 5"/>
          <p:cNvSpPr/>
          <p:nvPr/>
        </p:nvSpPr>
        <p:spPr>
          <a:xfrm>
            <a:off x="13486949" y="8799331"/>
            <a:ext cx="3772351" cy="917939"/>
          </a:xfrm>
          <a:custGeom>
            <a:avLst/>
            <a:gdLst/>
            <a:ahLst/>
            <a:cxnLst/>
            <a:rect l="l" t="t" r="r" b="b"/>
            <a:pathLst>
              <a:path w="3772351" h="917939">
                <a:moveTo>
                  <a:pt x="0" y="0"/>
                </a:moveTo>
                <a:lnTo>
                  <a:pt x="3772351" y="0"/>
                </a:lnTo>
                <a:lnTo>
                  <a:pt x="3772351" y="917938"/>
                </a:lnTo>
                <a:lnTo>
                  <a:pt x="0" y="917938"/>
                </a:lnTo>
                <a:lnTo>
                  <a:pt x="0" y="0"/>
                </a:lnTo>
                <a:close/>
              </a:path>
            </a:pathLst>
          </a:custGeom>
          <a:blipFill>
            <a:blip r:embed="rId3"/>
            <a:stretch>
              <a:fillRect/>
            </a:stretch>
          </a:blipFill>
        </p:spPr>
        <p:txBody>
          <a:bodyPr/>
          <a:lstStyle/>
          <a:p>
            <a:endParaRPr lang="en-ID"/>
          </a:p>
        </p:txBody>
      </p:sp>
      <p:sp>
        <p:nvSpPr>
          <p:cNvPr id="6" name="Freeform 6"/>
          <p:cNvSpPr/>
          <p:nvPr/>
        </p:nvSpPr>
        <p:spPr>
          <a:xfrm>
            <a:off x="7400812" y="8627881"/>
            <a:ext cx="3229808" cy="1260838"/>
          </a:xfrm>
          <a:custGeom>
            <a:avLst/>
            <a:gdLst/>
            <a:ahLst/>
            <a:cxnLst/>
            <a:rect l="l" t="t" r="r" b="b"/>
            <a:pathLst>
              <a:path w="3229808" h="1260838">
                <a:moveTo>
                  <a:pt x="0" y="0"/>
                </a:moveTo>
                <a:lnTo>
                  <a:pt x="3229807" y="0"/>
                </a:lnTo>
                <a:lnTo>
                  <a:pt x="3229807" y="1260838"/>
                </a:lnTo>
                <a:lnTo>
                  <a:pt x="0" y="1260838"/>
                </a:lnTo>
                <a:lnTo>
                  <a:pt x="0" y="0"/>
                </a:lnTo>
                <a:close/>
              </a:path>
            </a:pathLst>
          </a:custGeom>
          <a:blipFill>
            <a:blip r:embed="rId4"/>
            <a:stretch>
              <a:fillRect t="-47588" b="-57342"/>
            </a:stretch>
          </a:blipFill>
        </p:spPr>
        <p:txBody>
          <a:bodyPr/>
          <a:lstStyle/>
          <a:p>
            <a:endParaRPr lang="en-ID"/>
          </a:p>
        </p:txBody>
      </p:sp>
      <p:sp>
        <p:nvSpPr>
          <p:cNvPr id="7" name="Freeform 7"/>
          <p:cNvSpPr/>
          <p:nvPr/>
        </p:nvSpPr>
        <p:spPr>
          <a:xfrm>
            <a:off x="495096" y="8866924"/>
            <a:ext cx="4061787" cy="782752"/>
          </a:xfrm>
          <a:custGeom>
            <a:avLst/>
            <a:gdLst/>
            <a:ahLst/>
            <a:cxnLst/>
            <a:rect l="l" t="t" r="r" b="b"/>
            <a:pathLst>
              <a:path w="4061787" h="782752">
                <a:moveTo>
                  <a:pt x="0" y="0"/>
                </a:moveTo>
                <a:lnTo>
                  <a:pt x="4061787" y="0"/>
                </a:lnTo>
                <a:lnTo>
                  <a:pt x="4061787" y="782752"/>
                </a:lnTo>
                <a:lnTo>
                  <a:pt x="0" y="782752"/>
                </a:lnTo>
                <a:lnTo>
                  <a:pt x="0" y="0"/>
                </a:lnTo>
                <a:close/>
              </a:path>
            </a:pathLst>
          </a:custGeom>
          <a:blipFill>
            <a:blip r:embed="rId5"/>
            <a:stretch>
              <a:fillRect t="-276397" b="-272240"/>
            </a:stretch>
          </a:blipFill>
        </p:spPr>
        <p:txBody>
          <a:bodyPr/>
          <a:lstStyle/>
          <a:p>
            <a:endParaRPr lang="en-ID"/>
          </a:p>
        </p:txBody>
      </p:sp>
      <p:sp>
        <p:nvSpPr>
          <p:cNvPr id="8" name="Freeform 8"/>
          <p:cNvSpPr/>
          <p:nvPr/>
        </p:nvSpPr>
        <p:spPr>
          <a:xfrm>
            <a:off x="495096" y="8450726"/>
            <a:ext cx="17434852" cy="229572"/>
          </a:xfrm>
          <a:custGeom>
            <a:avLst/>
            <a:gdLst/>
            <a:ahLst/>
            <a:cxnLst/>
            <a:rect l="l" t="t" r="r" b="b"/>
            <a:pathLst>
              <a:path w="17434852" h="229572">
                <a:moveTo>
                  <a:pt x="0" y="0"/>
                </a:moveTo>
                <a:lnTo>
                  <a:pt x="17434852" y="0"/>
                </a:lnTo>
                <a:lnTo>
                  <a:pt x="17434852" y="229572"/>
                </a:lnTo>
                <a:lnTo>
                  <a:pt x="0" y="229572"/>
                </a:lnTo>
                <a:lnTo>
                  <a:pt x="0" y="0"/>
                </a:lnTo>
                <a:close/>
              </a:path>
            </a:pathLst>
          </a:custGeom>
          <a:blipFill>
            <a:blip r:embed="rId6"/>
            <a:stretch>
              <a:fillRect/>
            </a:stretch>
          </a:blipFill>
        </p:spPr>
        <p:txBody>
          <a:bodyPr/>
          <a:lstStyle/>
          <a:p>
            <a:endParaRPr lang="en-ID"/>
          </a:p>
        </p:txBody>
      </p:sp>
      <p:pic>
        <p:nvPicPr>
          <p:cNvPr id="10" name="Picture 9">
            <a:extLst>
              <a:ext uri="{FF2B5EF4-FFF2-40B4-BE49-F238E27FC236}">
                <a16:creationId xmlns:a16="http://schemas.microsoft.com/office/drawing/2014/main" id="{D089408F-ABDB-B244-AE6A-5D0E2EAC053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53002" y="2110536"/>
            <a:ext cx="17676946" cy="606592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98271" y="6605123"/>
            <a:ext cx="229694" cy="1519546"/>
          </a:xfrm>
          <a:custGeom>
            <a:avLst/>
            <a:gdLst/>
            <a:ahLst/>
            <a:cxnLst/>
            <a:rect l="l" t="t" r="r" b="b"/>
            <a:pathLst>
              <a:path w="229694" h="1519546">
                <a:moveTo>
                  <a:pt x="0" y="0"/>
                </a:moveTo>
                <a:lnTo>
                  <a:pt x="229694" y="0"/>
                </a:lnTo>
                <a:lnTo>
                  <a:pt x="229694" y="1519546"/>
                </a:lnTo>
                <a:lnTo>
                  <a:pt x="0" y="1519546"/>
                </a:lnTo>
                <a:lnTo>
                  <a:pt x="0" y="0"/>
                </a:lnTo>
                <a:close/>
              </a:path>
            </a:pathLst>
          </a:custGeom>
          <a:blipFill>
            <a:blip r:embed="rId2"/>
            <a:stretch>
              <a:fillRect/>
            </a:stretch>
          </a:blipFill>
        </p:spPr>
        <p:txBody>
          <a:bodyPr/>
          <a:lstStyle/>
          <a:p>
            <a:endParaRPr lang="en-ID"/>
          </a:p>
        </p:txBody>
      </p:sp>
      <p:sp>
        <p:nvSpPr>
          <p:cNvPr id="3" name="Freeform 3"/>
          <p:cNvSpPr/>
          <p:nvPr/>
        </p:nvSpPr>
        <p:spPr>
          <a:xfrm>
            <a:off x="9448800" y="6599244"/>
            <a:ext cx="229694" cy="1508614"/>
          </a:xfrm>
          <a:custGeom>
            <a:avLst/>
            <a:gdLst/>
            <a:ahLst/>
            <a:cxnLst/>
            <a:rect l="l" t="t" r="r" b="b"/>
            <a:pathLst>
              <a:path w="229694" h="1508614">
                <a:moveTo>
                  <a:pt x="0" y="0"/>
                </a:moveTo>
                <a:lnTo>
                  <a:pt x="229694" y="0"/>
                </a:lnTo>
                <a:lnTo>
                  <a:pt x="229694" y="1508614"/>
                </a:lnTo>
                <a:lnTo>
                  <a:pt x="0" y="1508614"/>
                </a:lnTo>
                <a:lnTo>
                  <a:pt x="0" y="0"/>
                </a:lnTo>
                <a:close/>
              </a:path>
            </a:pathLst>
          </a:custGeom>
          <a:blipFill>
            <a:blip r:embed="rId3"/>
            <a:stretch>
              <a:fillRect/>
            </a:stretch>
          </a:blipFill>
        </p:spPr>
        <p:txBody>
          <a:bodyPr/>
          <a:lstStyle/>
          <a:p>
            <a:endParaRPr lang="en-ID"/>
          </a:p>
        </p:txBody>
      </p:sp>
      <p:sp>
        <p:nvSpPr>
          <p:cNvPr id="4" name="TextBox 4"/>
          <p:cNvSpPr txBox="1"/>
          <p:nvPr/>
        </p:nvSpPr>
        <p:spPr>
          <a:xfrm>
            <a:off x="713118" y="527603"/>
            <a:ext cx="6376463" cy="885798"/>
          </a:xfrm>
          <a:prstGeom prst="rect">
            <a:avLst/>
          </a:prstGeom>
        </p:spPr>
        <p:txBody>
          <a:bodyPr lIns="0" tIns="0" rIns="0" bIns="0" rtlCol="0" anchor="t">
            <a:spAutoFit/>
          </a:bodyPr>
          <a:lstStyle/>
          <a:p>
            <a:pPr algn="l">
              <a:lnSpc>
                <a:spcPts val="6206"/>
              </a:lnSpc>
            </a:pPr>
            <a:r>
              <a:rPr lang="en-US" sz="6206" b="1">
                <a:solidFill>
                  <a:srgbClr val="102A43"/>
                </a:solidFill>
                <a:latin typeface="Poppins Bold"/>
                <a:ea typeface="Poppins Bold"/>
                <a:cs typeface="Poppins Bold"/>
                <a:sym typeface="Poppins Bold"/>
              </a:rPr>
              <a:t>KEY FEATURES &amp;</a:t>
            </a:r>
          </a:p>
        </p:txBody>
      </p:sp>
      <p:sp>
        <p:nvSpPr>
          <p:cNvPr id="5" name="TextBox 5"/>
          <p:cNvSpPr txBox="1"/>
          <p:nvPr/>
        </p:nvSpPr>
        <p:spPr>
          <a:xfrm>
            <a:off x="7326929" y="526590"/>
            <a:ext cx="9681145" cy="791114"/>
          </a:xfrm>
          <a:prstGeom prst="rect">
            <a:avLst/>
          </a:prstGeom>
        </p:spPr>
        <p:txBody>
          <a:bodyPr wrap="square" lIns="0" tIns="0" rIns="0" bIns="0" rtlCol="0" anchor="t">
            <a:spAutoFit/>
          </a:bodyPr>
          <a:lstStyle/>
          <a:p>
            <a:pPr algn="l">
              <a:lnSpc>
                <a:spcPts val="5962"/>
              </a:lnSpc>
            </a:pPr>
            <a:r>
              <a:rPr lang="en-US" sz="5962" b="1" dirty="0">
                <a:solidFill>
                  <a:srgbClr val="0A65F7"/>
                </a:solidFill>
                <a:latin typeface="Poppins Bold"/>
                <a:ea typeface="Poppins Bold"/>
                <a:cs typeface="Poppins Bold"/>
                <a:sym typeface="Poppins Bold"/>
              </a:rPr>
              <a:t>INNOVATION SHOWCASE</a:t>
            </a:r>
          </a:p>
        </p:txBody>
      </p:sp>
      <p:grpSp>
        <p:nvGrpSpPr>
          <p:cNvPr id="6" name="Group 6"/>
          <p:cNvGrpSpPr/>
          <p:nvPr/>
        </p:nvGrpSpPr>
        <p:grpSpPr>
          <a:xfrm>
            <a:off x="349407" y="2735882"/>
            <a:ext cx="4430578" cy="4584514"/>
            <a:chOff x="0" y="0"/>
            <a:chExt cx="5441933" cy="6341244"/>
          </a:xfrm>
        </p:grpSpPr>
        <p:grpSp>
          <p:nvGrpSpPr>
            <p:cNvPr id="7" name="Group 7"/>
            <p:cNvGrpSpPr/>
            <p:nvPr/>
          </p:nvGrpSpPr>
          <p:grpSpPr>
            <a:xfrm>
              <a:off x="0" y="0"/>
              <a:ext cx="5441933" cy="4558020"/>
              <a:chOff x="0" y="0"/>
              <a:chExt cx="1341674" cy="1123751"/>
            </a:xfrm>
          </p:grpSpPr>
          <p:sp>
            <p:nvSpPr>
              <p:cNvPr id="8" name="Freeform 8"/>
              <p:cNvSpPr/>
              <p:nvPr/>
            </p:nvSpPr>
            <p:spPr>
              <a:xfrm>
                <a:off x="0" y="0"/>
                <a:ext cx="1341674" cy="1123751"/>
              </a:xfrm>
              <a:custGeom>
                <a:avLst/>
                <a:gdLst/>
                <a:ahLst/>
                <a:cxnLst/>
                <a:rect l="l" t="t" r="r" b="b"/>
                <a:pathLst>
                  <a:path w="1341674" h="1123751">
                    <a:moveTo>
                      <a:pt x="0" y="0"/>
                    </a:moveTo>
                    <a:lnTo>
                      <a:pt x="1341674" y="0"/>
                    </a:lnTo>
                    <a:lnTo>
                      <a:pt x="1341674" y="1123751"/>
                    </a:lnTo>
                    <a:lnTo>
                      <a:pt x="0" y="1123751"/>
                    </a:lnTo>
                    <a:close/>
                  </a:path>
                </a:pathLst>
              </a:custGeom>
              <a:ln w="28575" cap="sq">
                <a:solidFill>
                  <a:srgbClr val="000000"/>
                </a:solidFill>
                <a:prstDash val="solid"/>
                <a:miter/>
              </a:ln>
            </p:spPr>
            <p:txBody>
              <a:bodyPr/>
              <a:lstStyle/>
              <a:p>
                <a:endParaRPr lang="en-ID"/>
              </a:p>
            </p:txBody>
          </p:sp>
          <p:sp>
            <p:nvSpPr>
              <p:cNvPr id="9" name="TextBox 9"/>
              <p:cNvSpPr txBox="1"/>
              <p:nvPr/>
            </p:nvSpPr>
            <p:spPr>
              <a:xfrm>
                <a:off x="0" y="-9525"/>
                <a:ext cx="1341674" cy="1133276"/>
              </a:xfrm>
              <a:prstGeom prst="rect">
                <a:avLst/>
              </a:prstGeom>
            </p:spPr>
            <p:txBody>
              <a:bodyPr lIns="50800" tIns="50800" rIns="50800" bIns="50800" rtlCol="0" anchor="ctr"/>
              <a:lstStyle/>
              <a:p>
                <a:pPr algn="ctr">
                  <a:lnSpc>
                    <a:spcPts val="3090"/>
                  </a:lnSpc>
                </a:pPr>
                <a:endParaRPr/>
              </a:p>
            </p:txBody>
          </p:sp>
        </p:grpSp>
        <p:sp>
          <p:nvSpPr>
            <p:cNvPr id="10" name="TextBox 10"/>
            <p:cNvSpPr txBox="1"/>
            <p:nvPr/>
          </p:nvSpPr>
          <p:spPr>
            <a:xfrm>
              <a:off x="154797" y="251600"/>
              <a:ext cx="5228892" cy="6089644"/>
            </a:xfrm>
            <a:prstGeom prst="rect">
              <a:avLst/>
            </a:prstGeom>
          </p:spPr>
          <p:txBody>
            <a:bodyPr wrap="square" lIns="0" tIns="0" rIns="0" bIns="0" rtlCol="0" anchor="t">
              <a:spAutoFit/>
            </a:bodyPr>
            <a:lstStyle/>
            <a:p>
              <a:pPr>
                <a:lnSpc>
                  <a:spcPct val="100000"/>
                </a:lnSpc>
              </a:pPr>
              <a:r>
                <a:rPr lang="en-US" sz="2211" b="1" dirty="0">
                  <a:solidFill>
                    <a:srgbClr val="0A65F7"/>
                  </a:solidFill>
                  <a:latin typeface="Roboto Condensed Bold"/>
                  <a:ea typeface="Roboto Condensed Bold"/>
                  <a:cs typeface="Roboto Condensed Bold"/>
                  <a:sym typeface="Roboto Condensed Bold"/>
                </a:rPr>
                <a:t>FEATURE 1: </a:t>
              </a:r>
            </a:p>
            <a:p>
              <a:pPr>
                <a:lnSpc>
                  <a:spcPct val="100000"/>
                </a:lnSpc>
              </a:pPr>
              <a:r>
                <a:rPr lang="en-ID" sz="2400" b="1" dirty="0"/>
                <a:t>Layered Attack Blocking</a:t>
              </a:r>
            </a:p>
            <a:p>
              <a:pPr>
                <a:lnSpc>
                  <a:spcPct val="100000"/>
                </a:lnSpc>
              </a:pPr>
              <a:endParaRPr lang="en-ID" sz="2400" b="1" dirty="0"/>
            </a:p>
            <a:p>
              <a:r>
                <a:rPr lang="en-ID" sz="2400" dirty="0"/>
                <a:t>Decodes hidden payloads and detects attacks such as SQL injection, XSS, SSRF and command injection using configurable security rules.</a:t>
              </a:r>
            </a:p>
            <a:p>
              <a:pPr>
                <a:lnSpc>
                  <a:spcPct val="100000"/>
                </a:lnSpc>
              </a:pPr>
              <a:endParaRPr lang="en-ID" sz="2400" b="1" dirty="0"/>
            </a:p>
            <a:p>
              <a:pPr>
                <a:lnSpc>
                  <a:spcPct val="100000"/>
                </a:lnSpc>
              </a:pPr>
              <a:endParaRPr lang="en-ID" sz="2400" b="1" dirty="0"/>
            </a:p>
            <a:p>
              <a:pPr>
                <a:lnSpc>
                  <a:spcPct val="100000"/>
                </a:lnSpc>
              </a:pPr>
              <a:endParaRPr lang="en-ID" sz="2400" dirty="0"/>
            </a:p>
            <a:p>
              <a:pPr algn="l">
                <a:lnSpc>
                  <a:spcPts val="3095"/>
                </a:lnSpc>
              </a:pPr>
              <a:endParaRPr lang="en-US" sz="2211" b="1" dirty="0">
                <a:solidFill>
                  <a:srgbClr val="0A65F7"/>
                </a:solidFill>
                <a:latin typeface="Roboto Condensed Bold"/>
                <a:ea typeface="Roboto Condensed Bold"/>
                <a:cs typeface="Roboto Condensed Bold"/>
                <a:sym typeface="Roboto Condensed Bold"/>
              </a:endParaRPr>
            </a:p>
          </p:txBody>
        </p:sp>
      </p:grpSp>
      <p:sp>
        <p:nvSpPr>
          <p:cNvPr id="11" name="TextBox 11"/>
          <p:cNvSpPr txBox="1"/>
          <p:nvPr/>
        </p:nvSpPr>
        <p:spPr>
          <a:xfrm>
            <a:off x="996666" y="6645772"/>
            <a:ext cx="5983826" cy="478561"/>
          </a:xfrm>
          <a:prstGeom prst="rect">
            <a:avLst/>
          </a:prstGeom>
        </p:spPr>
        <p:txBody>
          <a:bodyPr lIns="0" tIns="0" rIns="0" bIns="0" rtlCol="0" anchor="t">
            <a:spAutoFit/>
          </a:bodyPr>
          <a:lstStyle/>
          <a:p>
            <a:pPr algn="l">
              <a:lnSpc>
                <a:spcPts val="3863"/>
              </a:lnSpc>
            </a:pPr>
            <a:r>
              <a:rPr lang="en-US" sz="2759" b="1" dirty="0">
                <a:solidFill>
                  <a:srgbClr val="0A65F7"/>
                </a:solidFill>
                <a:latin typeface="Roboto Condensed Bold"/>
                <a:ea typeface="Roboto Condensed Bold"/>
                <a:cs typeface="Roboto Condensed Bold"/>
                <a:sym typeface="Roboto Condensed Bold"/>
              </a:rPr>
              <a:t>WHAT MAKES YOUR SOLUTION UNIQUE?</a:t>
            </a:r>
          </a:p>
        </p:txBody>
      </p:sp>
      <p:sp>
        <p:nvSpPr>
          <p:cNvPr id="12" name="TextBox 12"/>
          <p:cNvSpPr txBox="1"/>
          <p:nvPr/>
        </p:nvSpPr>
        <p:spPr>
          <a:xfrm>
            <a:off x="974543" y="7086233"/>
            <a:ext cx="6653208" cy="1511952"/>
          </a:xfrm>
          <a:prstGeom prst="rect">
            <a:avLst/>
          </a:prstGeom>
        </p:spPr>
        <p:txBody>
          <a:bodyPr lIns="0" tIns="0" rIns="0" bIns="0" rtlCol="0" anchor="t">
            <a:spAutoFit/>
          </a:bodyPr>
          <a:lstStyle/>
          <a:p>
            <a:r>
              <a:rPr lang="en-ID" sz="2400" dirty="0"/>
              <a:t>A built-in </a:t>
            </a:r>
            <a:r>
              <a:rPr lang="en-ID" sz="2400" b="1" dirty="0"/>
              <a:t>Security Scorecard</a:t>
            </a:r>
            <a:r>
              <a:rPr lang="en-ID" sz="2400" dirty="0"/>
              <a:t> measures attack detection, false positives and processing overhead using test attacks and legitimate traffic.</a:t>
            </a:r>
          </a:p>
          <a:p>
            <a:pPr algn="l">
              <a:lnSpc>
                <a:spcPts val="3359"/>
              </a:lnSpc>
            </a:pPr>
            <a:endParaRPr lang="en-US" sz="2399" spc="-62" dirty="0">
              <a:solidFill>
                <a:srgbClr val="102A43"/>
              </a:solidFill>
              <a:latin typeface="Roboto Condensed"/>
              <a:ea typeface="Roboto Condensed"/>
              <a:cs typeface="Roboto Condensed"/>
              <a:sym typeface="Roboto Condensed"/>
            </a:endParaRPr>
          </a:p>
        </p:txBody>
      </p:sp>
      <p:sp>
        <p:nvSpPr>
          <p:cNvPr id="13" name="TextBox 13"/>
          <p:cNvSpPr txBox="1"/>
          <p:nvPr/>
        </p:nvSpPr>
        <p:spPr>
          <a:xfrm>
            <a:off x="9897018" y="6683150"/>
            <a:ext cx="5441475" cy="478561"/>
          </a:xfrm>
          <a:prstGeom prst="rect">
            <a:avLst/>
          </a:prstGeom>
        </p:spPr>
        <p:txBody>
          <a:bodyPr lIns="0" tIns="0" rIns="0" bIns="0" rtlCol="0" anchor="t">
            <a:spAutoFit/>
          </a:bodyPr>
          <a:lstStyle/>
          <a:p>
            <a:pPr algn="l">
              <a:lnSpc>
                <a:spcPts val="3863"/>
              </a:lnSpc>
            </a:pPr>
            <a:r>
              <a:rPr lang="en-US" sz="2759" b="1" dirty="0">
                <a:solidFill>
                  <a:srgbClr val="F08A21"/>
                </a:solidFill>
                <a:latin typeface="Roboto Condensed Bold"/>
                <a:ea typeface="Roboto Condensed Bold"/>
                <a:cs typeface="Roboto Condensed Bold"/>
                <a:sym typeface="Roboto Condensed Bold"/>
              </a:rPr>
              <a:t>YOUR UNIQUE SELLING POINT</a:t>
            </a:r>
          </a:p>
        </p:txBody>
      </p:sp>
      <p:sp>
        <p:nvSpPr>
          <p:cNvPr id="14" name="TextBox 14"/>
          <p:cNvSpPr txBox="1"/>
          <p:nvPr/>
        </p:nvSpPr>
        <p:spPr>
          <a:xfrm>
            <a:off x="9982200" y="7132944"/>
            <a:ext cx="6226014" cy="1511952"/>
          </a:xfrm>
          <a:prstGeom prst="rect">
            <a:avLst/>
          </a:prstGeom>
        </p:spPr>
        <p:txBody>
          <a:bodyPr lIns="0" tIns="0" rIns="0" bIns="0" rtlCol="0" anchor="t">
            <a:spAutoFit/>
          </a:bodyPr>
          <a:lstStyle/>
          <a:p>
            <a:r>
              <a:rPr lang="en-ID" sz="2400" dirty="0"/>
              <a:t>Lightweight API protection with </a:t>
            </a:r>
            <a:r>
              <a:rPr lang="en-ID" sz="2400" b="1" dirty="0"/>
              <a:t>zero backend code changes</a:t>
            </a:r>
            <a:r>
              <a:rPr lang="en-ID" sz="2400" dirty="0"/>
              <a:t>, explainable security decisions and measurable performance.</a:t>
            </a:r>
          </a:p>
          <a:p>
            <a:pPr algn="l">
              <a:lnSpc>
                <a:spcPts val="3359"/>
              </a:lnSpc>
            </a:pPr>
            <a:r>
              <a:rPr lang="en-US" sz="2399" spc="-62" dirty="0">
                <a:solidFill>
                  <a:srgbClr val="102A43"/>
                </a:solidFill>
                <a:latin typeface="Roboto Condensed"/>
                <a:ea typeface="Roboto Condensed"/>
                <a:cs typeface="Roboto Condensed"/>
                <a:sym typeface="Roboto Condensed"/>
              </a:rPr>
              <a:t>.</a:t>
            </a:r>
          </a:p>
        </p:txBody>
      </p:sp>
      <p:grpSp>
        <p:nvGrpSpPr>
          <p:cNvPr id="15" name="Group 15"/>
          <p:cNvGrpSpPr/>
          <p:nvPr/>
        </p:nvGrpSpPr>
        <p:grpSpPr>
          <a:xfrm>
            <a:off x="4939766" y="2735882"/>
            <a:ext cx="4204233" cy="3330147"/>
            <a:chOff x="0" y="0"/>
            <a:chExt cx="5441933" cy="4558020"/>
          </a:xfrm>
        </p:grpSpPr>
        <p:grpSp>
          <p:nvGrpSpPr>
            <p:cNvPr id="16" name="Group 16"/>
            <p:cNvGrpSpPr/>
            <p:nvPr/>
          </p:nvGrpSpPr>
          <p:grpSpPr>
            <a:xfrm>
              <a:off x="0" y="0"/>
              <a:ext cx="5441933" cy="4558020"/>
              <a:chOff x="0" y="0"/>
              <a:chExt cx="1341674" cy="1123751"/>
            </a:xfrm>
          </p:grpSpPr>
          <p:sp>
            <p:nvSpPr>
              <p:cNvPr id="17" name="Freeform 17"/>
              <p:cNvSpPr/>
              <p:nvPr/>
            </p:nvSpPr>
            <p:spPr>
              <a:xfrm>
                <a:off x="0" y="0"/>
                <a:ext cx="1341674" cy="1123751"/>
              </a:xfrm>
              <a:custGeom>
                <a:avLst/>
                <a:gdLst/>
                <a:ahLst/>
                <a:cxnLst/>
                <a:rect l="l" t="t" r="r" b="b"/>
                <a:pathLst>
                  <a:path w="1341674" h="1123751">
                    <a:moveTo>
                      <a:pt x="0" y="0"/>
                    </a:moveTo>
                    <a:lnTo>
                      <a:pt x="1341674" y="0"/>
                    </a:lnTo>
                    <a:lnTo>
                      <a:pt x="1341674" y="1123751"/>
                    </a:lnTo>
                    <a:lnTo>
                      <a:pt x="0" y="1123751"/>
                    </a:lnTo>
                    <a:close/>
                  </a:path>
                </a:pathLst>
              </a:custGeom>
              <a:ln w="28575" cap="sq">
                <a:solidFill>
                  <a:srgbClr val="000000"/>
                </a:solidFill>
                <a:prstDash val="solid"/>
                <a:miter/>
              </a:ln>
            </p:spPr>
            <p:txBody>
              <a:bodyPr/>
              <a:lstStyle/>
              <a:p>
                <a:endParaRPr lang="en-ID"/>
              </a:p>
            </p:txBody>
          </p:sp>
          <p:sp>
            <p:nvSpPr>
              <p:cNvPr id="18" name="TextBox 18"/>
              <p:cNvSpPr txBox="1"/>
              <p:nvPr/>
            </p:nvSpPr>
            <p:spPr>
              <a:xfrm>
                <a:off x="0" y="-9525"/>
                <a:ext cx="1341674" cy="1133276"/>
              </a:xfrm>
              <a:prstGeom prst="rect">
                <a:avLst/>
              </a:prstGeom>
            </p:spPr>
            <p:txBody>
              <a:bodyPr lIns="50800" tIns="50800" rIns="50800" bIns="50800" rtlCol="0" anchor="ctr"/>
              <a:lstStyle/>
              <a:p>
                <a:pPr algn="ctr">
                  <a:lnSpc>
                    <a:spcPts val="3090"/>
                  </a:lnSpc>
                </a:pPr>
                <a:endParaRPr/>
              </a:p>
            </p:txBody>
          </p:sp>
        </p:grpSp>
        <p:sp>
          <p:nvSpPr>
            <p:cNvPr id="19" name="TextBox 19"/>
            <p:cNvSpPr txBox="1"/>
            <p:nvPr/>
          </p:nvSpPr>
          <p:spPr>
            <a:xfrm>
              <a:off x="186296" y="213688"/>
              <a:ext cx="5081533" cy="4014432"/>
            </a:xfrm>
            <a:prstGeom prst="rect">
              <a:avLst/>
            </a:prstGeom>
          </p:spPr>
          <p:txBody>
            <a:bodyPr wrap="square" lIns="0" tIns="0" rIns="0" bIns="0" rtlCol="0" anchor="t">
              <a:spAutoFit/>
            </a:bodyPr>
            <a:lstStyle/>
            <a:p>
              <a:pPr algn="l">
                <a:lnSpc>
                  <a:spcPts val="3095"/>
                </a:lnSpc>
              </a:pPr>
              <a:r>
                <a:rPr lang="en-US" sz="2211" b="1" dirty="0">
                  <a:solidFill>
                    <a:srgbClr val="0A65F7"/>
                  </a:solidFill>
                  <a:latin typeface="Roboto Condensed Bold"/>
                  <a:ea typeface="Roboto Condensed Bold"/>
                  <a:cs typeface="Roboto Condensed Bold"/>
                  <a:sym typeface="Roboto Condensed Bold"/>
                </a:rPr>
                <a:t>FEATURE 2:</a:t>
              </a:r>
            </a:p>
            <a:p>
              <a:pPr>
                <a:lnSpc>
                  <a:spcPct val="100000"/>
                </a:lnSpc>
              </a:pPr>
              <a:r>
                <a:rPr lang="en-ID" sz="2400" b="1" dirty="0"/>
                <a:t>Bot &amp; Abuse Defence</a:t>
              </a:r>
              <a:endParaRPr lang="en-ID" sz="2400" dirty="0"/>
            </a:p>
            <a:p>
              <a:pPr algn="l">
                <a:lnSpc>
                  <a:spcPts val="3095"/>
                </a:lnSpc>
              </a:pPr>
              <a:endParaRPr lang="en-US" sz="2211" b="1" dirty="0">
                <a:solidFill>
                  <a:srgbClr val="0A65F7"/>
                </a:solidFill>
                <a:latin typeface="Roboto Condensed Bold"/>
                <a:ea typeface="Roboto Condensed Bold"/>
                <a:cs typeface="Roboto Condensed Bold"/>
                <a:sym typeface="Roboto Condensed Bold"/>
              </a:endParaRPr>
            </a:p>
            <a:p>
              <a:pPr>
                <a:lnSpc>
                  <a:spcPct val="100000"/>
                </a:lnSpc>
              </a:pPr>
              <a:r>
                <a:rPr lang="en-ID" sz="2400" dirty="0"/>
                <a:t>Uses rate limiting, suspicious-bot detection and temporary IP bans to reduce automated attacks and repeated abuse.</a:t>
              </a:r>
            </a:p>
            <a:p>
              <a:pPr algn="l">
                <a:lnSpc>
                  <a:spcPts val="3095"/>
                </a:lnSpc>
              </a:pPr>
              <a:endParaRPr lang="en-US" sz="2211" b="1" dirty="0">
                <a:solidFill>
                  <a:srgbClr val="0A65F7"/>
                </a:solidFill>
                <a:latin typeface="Roboto Condensed Bold"/>
                <a:ea typeface="Roboto Condensed Bold"/>
                <a:cs typeface="Roboto Condensed Bold"/>
                <a:sym typeface="Roboto Condensed Bold"/>
              </a:endParaRPr>
            </a:p>
          </p:txBody>
        </p:sp>
      </p:grpSp>
      <p:grpSp>
        <p:nvGrpSpPr>
          <p:cNvPr id="20" name="Group 20"/>
          <p:cNvGrpSpPr/>
          <p:nvPr/>
        </p:nvGrpSpPr>
        <p:grpSpPr>
          <a:xfrm>
            <a:off x="9266783" y="2740774"/>
            <a:ext cx="4327016" cy="3514497"/>
            <a:chOff x="0" y="0"/>
            <a:chExt cx="5609657" cy="4810343"/>
          </a:xfrm>
        </p:grpSpPr>
        <p:grpSp>
          <p:nvGrpSpPr>
            <p:cNvPr id="21" name="Group 21"/>
            <p:cNvGrpSpPr/>
            <p:nvPr/>
          </p:nvGrpSpPr>
          <p:grpSpPr>
            <a:xfrm>
              <a:off x="0" y="0"/>
              <a:ext cx="5441933" cy="4558020"/>
              <a:chOff x="0" y="0"/>
              <a:chExt cx="1341674" cy="1123751"/>
            </a:xfrm>
          </p:grpSpPr>
          <p:sp>
            <p:nvSpPr>
              <p:cNvPr id="22" name="Freeform 22"/>
              <p:cNvSpPr/>
              <p:nvPr/>
            </p:nvSpPr>
            <p:spPr>
              <a:xfrm>
                <a:off x="0" y="0"/>
                <a:ext cx="1341674" cy="1123751"/>
              </a:xfrm>
              <a:custGeom>
                <a:avLst/>
                <a:gdLst/>
                <a:ahLst/>
                <a:cxnLst/>
                <a:rect l="l" t="t" r="r" b="b"/>
                <a:pathLst>
                  <a:path w="1341674" h="1123751">
                    <a:moveTo>
                      <a:pt x="0" y="0"/>
                    </a:moveTo>
                    <a:lnTo>
                      <a:pt x="1341674" y="0"/>
                    </a:lnTo>
                    <a:lnTo>
                      <a:pt x="1341674" y="1123751"/>
                    </a:lnTo>
                    <a:lnTo>
                      <a:pt x="0" y="1123751"/>
                    </a:lnTo>
                    <a:close/>
                  </a:path>
                </a:pathLst>
              </a:custGeom>
              <a:ln w="28575" cap="sq">
                <a:solidFill>
                  <a:srgbClr val="000000"/>
                </a:solidFill>
                <a:prstDash val="solid"/>
                <a:miter/>
              </a:ln>
            </p:spPr>
            <p:txBody>
              <a:bodyPr/>
              <a:lstStyle/>
              <a:p>
                <a:endParaRPr lang="en-ID"/>
              </a:p>
            </p:txBody>
          </p:sp>
          <p:sp>
            <p:nvSpPr>
              <p:cNvPr id="23" name="TextBox 23"/>
              <p:cNvSpPr txBox="1"/>
              <p:nvPr/>
            </p:nvSpPr>
            <p:spPr>
              <a:xfrm>
                <a:off x="0" y="-9525"/>
                <a:ext cx="1341674" cy="1133276"/>
              </a:xfrm>
              <a:prstGeom prst="rect">
                <a:avLst/>
              </a:prstGeom>
            </p:spPr>
            <p:txBody>
              <a:bodyPr lIns="50800" tIns="50800" rIns="50800" bIns="50800" rtlCol="0" anchor="ctr"/>
              <a:lstStyle/>
              <a:p>
                <a:pPr algn="ctr">
                  <a:lnSpc>
                    <a:spcPts val="3090"/>
                  </a:lnSpc>
                </a:pPr>
                <a:endParaRPr/>
              </a:p>
            </p:txBody>
          </p:sp>
        </p:grpSp>
        <p:sp>
          <p:nvSpPr>
            <p:cNvPr id="24" name="TextBox 24"/>
            <p:cNvSpPr txBox="1"/>
            <p:nvPr/>
          </p:nvSpPr>
          <p:spPr>
            <a:xfrm>
              <a:off x="174104" y="213688"/>
              <a:ext cx="5435553" cy="4596655"/>
            </a:xfrm>
            <a:prstGeom prst="rect">
              <a:avLst/>
            </a:prstGeom>
          </p:spPr>
          <p:txBody>
            <a:bodyPr wrap="square" lIns="0" tIns="0" rIns="0" bIns="0" rtlCol="0" anchor="t">
              <a:spAutoFit/>
            </a:bodyPr>
            <a:lstStyle/>
            <a:p>
              <a:pPr algn="l">
                <a:lnSpc>
                  <a:spcPts val="3095"/>
                </a:lnSpc>
              </a:pPr>
              <a:r>
                <a:rPr lang="en-US" sz="2211" b="1" dirty="0">
                  <a:solidFill>
                    <a:srgbClr val="0A65F7"/>
                  </a:solidFill>
                  <a:latin typeface="Roboto Condensed Bold"/>
                  <a:ea typeface="Roboto Condensed Bold"/>
                  <a:cs typeface="Roboto Condensed Bold"/>
                  <a:sym typeface="Roboto Condensed Bold"/>
                </a:rPr>
                <a:t>FEATURE 3:</a:t>
              </a:r>
            </a:p>
            <a:p>
              <a:pPr>
                <a:lnSpc>
                  <a:spcPct val="100000"/>
                </a:lnSpc>
              </a:pPr>
              <a:r>
                <a:rPr lang="en-ID" sz="2400" b="1" dirty="0"/>
                <a:t>API Contract Guard</a:t>
              </a:r>
              <a:endParaRPr lang="en-ID" sz="2400" dirty="0"/>
            </a:p>
            <a:p>
              <a:pPr algn="l">
                <a:lnSpc>
                  <a:spcPts val="3095"/>
                </a:lnSpc>
              </a:pPr>
              <a:endParaRPr lang="en-US" sz="2211" b="1" dirty="0">
                <a:solidFill>
                  <a:srgbClr val="0A65F7"/>
                </a:solidFill>
                <a:latin typeface="Roboto Condensed Bold"/>
                <a:ea typeface="Roboto Condensed Bold"/>
                <a:cs typeface="Roboto Condensed Bold"/>
                <a:sym typeface="Roboto Condensed Bold"/>
              </a:endParaRPr>
            </a:p>
            <a:p>
              <a:pPr>
                <a:lnSpc>
                  <a:spcPct val="100000"/>
                </a:lnSpc>
              </a:pPr>
              <a:r>
                <a:rPr lang="en-ID" sz="2400" dirty="0"/>
                <a:t>Validates requests against the API’s </a:t>
              </a:r>
              <a:r>
                <a:rPr lang="en-ID" sz="2400" dirty="0" err="1"/>
                <a:t>OpenAPI</a:t>
              </a:r>
              <a:r>
                <a:rPr lang="en-ID" sz="2400" dirty="0"/>
                <a:t> specification and detects unknown endpoints, invalid data types and unexpected fields.</a:t>
              </a:r>
            </a:p>
            <a:p>
              <a:pPr algn="l">
                <a:lnSpc>
                  <a:spcPts val="3095"/>
                </a:lnSpc>
              </a:pPr>
              <a:endParaRPr lang="en-US" sz="2211" b="1" dirty="0">
                <a:solidFill>
                  <a:srgbClr val="0A65F7"/>
                </a:solidFill>
                <a:latin typeface="Roboto Condensed Bold"/>
                <a:ea typeface="Roboto Condensed Bold"/>
                <a:cs typeface="Roboto Condensed Bold"/>
                <a:sym typeface="Roboto Condensed Bold"/>
              </a:endParaRPr>
            </a:p>
          </p:txBody>
        </p:sp>
      </p:grpSp>
      <p:grpSp>
        <p:nvGrpSpPr>
          <p:cNvPr id="25" name="Group 25"/>
          <p:cNvGrpSpPr/>
          <p:nvPr/>
        </p:nvGrpSpPr>
        <p:grpSpPr>
          <a:xfrm>
            <a:off x="13724377" y="2740774"/>
            <a:ext cx="4192648" cy="3499785"/>
            <a:chOff x="0" y="0"/>
            <a:chExt cx="5441933" cy="4847411"/>
          </a:xfrm>
        </p:grpSpPr>
        <p:grpSp>
          <p:nvGrpSpPr>
            <p:cNvPr id="26" name="Group 26"/>
            <p:cNvGrpSpPr/>
            <p:nvPr/>
          </p:nvGrpSpPr>
          <p:grpSpPr>
            <a:xfrm>
              <a:off x="0" y="0"/>
              <a:ext cx="5441933" cy="4558020"/>
              <a:chOff x="0" y="0"/>
              <a:chExt cx="1341674" cy="1123751"/>
            </a:xfrm>
          </p:grpSpPr>
          <p:sp>
            <p:nvSpPr>
              <p:cNvPr id="27" name="Freeform 27"/>
              <p:cNvSpPr/>
              <p:nvPr/>
            </p:nvSpPr>
            <p:spPr>
              <a:xfrm>
                <a:off x="0" y="0"/>
                <a:ext cx="1341674" cy="1123751"/>
              </a:xfrm>
              <a:custGeom>
                <a:avLst/>
                <a:gdLst/>
                <a:ahLst/>
                <a:cxnLst/>
                <a:rect l="l" t="t" r="r" b="b"/>
                <a:pathLst>
                  <a:path w="1341674" h="1123751">
                    <a:moveTo>
                      <a:pt x="0" y="0"/>
                    </a:moveTo>
                    <a:lnTo>
                      <a:pt x="1341674" y="0"/>
                    </a:lnTo>
                    <a:lnTo>
                      <a:pt x="1341674" y="1123751"/>
                    </a:lnTo>
                    <a:lnTo>
                      <a:pt x="0" y="1123751"/>
                    </a:lnTo>
                    <a:close/>
                  </a:path>
                </a:pathLst>
              </a:custGeom>
              <a:ln w="28575" cap="sq">
                <a:solidFill>
                  <a:srgbClr val="000000"/>
                </a:solidFill>
                <a:prstDash val="solid"/>
                <a:miter/>
              </a:ln>
            </p:spPr>
            <p:txBody>
              <a:bodyPr/>
              <a:lstStyle/>
              <a:p>
                <a:endParaRPr lang="en-ID"/>
              </a:p>
            </p:txBody>
          </p:sp>
          <p:sp>
            <p:nvSpPr>
              <p:cNvPr id="28" name="TextBox 28"/>
              <p:cNvSpPr txBox="1"/>
              <p:nvPr/>
            </p:nvSpPr>
            <p:spPr>
              <a:xfrm>
                <a:off x="0" y="-9525"/>
                <a:ext cx="1341674" cy="1133276"/>
              </a:xfrm>
              <a:prstGeom prst="rect">
                <a:avLst/>
              </a:prstGeom>
            </p:spPr>
            <p:txBody>
              <a:bodyPr lIns="50800" tIns="50800" rIns="50800" bIns="50800" rtlCol="0" anchor="ctr"/>
              <a:lstStyle/>
              <a:p>
                <a:pPr algn="ctr">
                  <a:lnSpc>
                    <a:spcPts val="3090"/>
                  </a:lnSpc>
                </a:pPr>
                <a:endParaRPr/>
              </a:p>
            </p:txBody>
          </p:sp>
        </p:grpSp>
        <p:sp>
          <p:nvSpPr>
            <p:cNvPr id="29" name="TextBox 29"/>
            <p:cNvSpPr txBox="1"/>
            <p:nvPr/>
          </p:nvSpPr>
          <p:spPr>
            <a:xfrm>
              <a:off x="203163" y="181031"/>
              <a:ext cx="5083973" cy="4666380"/>
            </a:xfrm>
            <a:prstGeom prst="rect">
              <a:avLst/>
            </a:prstGeom>
          </p:spPr>
          <p:txBody>
            <a:bodyPr wrap="square" lIns="0" tIns="0" rIns="0" bIns="0" rtlCol="0" anchor="t">
              <a:spAutoFit/>
            </a:bodyPr>
            <a:lstStyle/>
            <a:p>
              <a:pPr algn="l">
                <a:lnSpc>
                  <a:spcPts val="3095"/>
                </a:lnSpc>
              </a:pPr>
              <a:r>
                <a:rPr lang="en-US" sz="2211" b="1" dirty="0">
                  <a:solidFill>
                    <a:srgbClr val="0A65F7"/>
                  </a:solidFill>
                  <a:latin typeface="Roboto Condensed Bold"/>
                  <a:ea typeface="Roboto Condensed Bold"/>
                  <a:cs typeface="Roboto Condensed Bold"/>
                  <a:sym typeface="Roboto Condensed Bold"/>
                </a:rPr>
                <a:t>FEATURE 4:</a:t>
              </a:r>
            </a:p>
            <a:p>
              <a:pPr>
                <a:lnSpc>
                  <a:spcPct val="100000"/>
                </a:lnSpc>
              </a:pPr>
              <a:r>
                <a:rPr lang="en-ID" sz="2400" b="1" dirty="0"/>
                <a:t>Live Attack Analytics</a:t>
              </a:r>
              <a:endParaRPr lang="en-ID" sz="2400" dirty="0"/>
            </a:p>
            <a:p>
              <a:pPr algn="l">
                <a:lnSpc>
                  <a:spcPts val="3095"/>
                </a:lnSpc>
              </a:pPr>
              <a:endParaRPr lang="en-US" sz="2211" b="1" dirty="0">
                <a:solidFill>
                  <a:srgbClr val="0A65F7"/>
                </a:solidFill>
                <a:latin typeface="Roboto Condensed Bold"/>
                <a:ea typeface="Roboto Condensed Bold"/>
                <a:cs typeface="Roboto Condensed Bold"/>
                <a:sym typeface="Roboto Condensed Bold"/>
              </a:endParaRPr>
            </a:p>
            <a:p>
              <a:pPr>
                <a:lnSpc>
                  <a:spcPct val="100000"/>
                </a:lnSpc>
              </a:pPr>
              <a:r>
                <a:rPr lang="en-ID" sz="2400" dirty="0"/>
                <a:t>Displays real-time attack alerts, top attackers, risk scores and security classifications through a live dashboard.</a:t>
              </a:r>
            </a:p>
            <a:p>
              <a:pPr algn="l">
                <a:lnSpc>
                  <a:spcPts val="3095"/>
                </a:lnSpc>
              </a:pPr>
              <a:endParaRPr lang="en-US" sz="2211" b="1" dirty="0">
                <a:solidFill>
                  <a:srgbClr val="0A65F7"/>
                </a:solidFill>
                <a:latin typeface="Roboto Condensed Bold"/>
                <a:ea typeface="Roboto Condensed Bold"/>
                <a:cs typeface="Roboto Condensed Bold"/>
                <a:sym typeface="Roboto Condensed Bold"/>
              </a:endParaRPr>
            </a:p>
          </p:txBody>
        </p:sp>
      </p:grpSp>
      <p:sp>
        <p:nvSpPr>
          <p:cNvPr id="30" name="Freeform 30"/>
          <p:cNvSpPr/>
          <p:nvPr/>
        </p:nvSpPr>
        <p:spPr>
          <a:xfrm>
            <a:off x="13474026" y="9053017"/>
            <a:ext cx="3772351" cy="917939"/>
          </a:xfrm>
          <a:custGeom>
            <a:avLst/>
            <a:gdLst/>
            <a:ahLst/>
            <a:cxnLst/>
            <a:rect l="l" t="t" r="r" b="b"/>
            <a:pathLst>
              <a:path w="3772351" h="917939">
                <a:moveTo>
                  <a:pt x="0" y="0"/>
                </a:moveTo>
                <a:lnTo>
                  <a:pt x="3772351" y="0"/>
                </a:lnTo>
                <a:lnTo>
                  <a:pt x="3772351" y="917939"/>
                </a:lnTo>
                <a:lnTo>
                  <a:pt x="0" y="917939"/>
                </a:lnTo>
                <a:lnTo>
                  <a:pt x="0" y="0"/>
                </a:lnTo>
                <a:close/>
              </a:path>
            </a:pathLst>
          </a:custGeom>
          <a:blipFill>
            <a:blip r:embed="rId4"/>
            <a:stretch>
              <a:fillRect/>
            </a:stretch>
          </a:blipFill>
        </p:spPr>
        <p:txBody>
          <a:bodyPr/>
          <a:lstStyle/>
          <a:p>
            <a:endParaRPr lang="en-ID"/>
          </a:p>
        </p:txBody>
      </p:sp>
      <p:sp>
        <p:nvSpPr>
          <p:cNvPr id="31" name="Freeform 31"/>
          <p:cNvSpPr/>
          <p:nvPr/>
        </p:nvSpPr>
        <p:spPr>
          <a:xfrm>
            <a:off x="7387889" y="8881567"/>
            <a:ext cx="3229808" cy="1260838"/>
          </a:xfrm>
          <a:custGeom>
            <a:avLst/>
            <a:gdLst/>
            <a:ahLst/>
            <a:cxnLst/>
            <a:rect l="l" t="t" r="r" b="b"/>
            <a:pathLst>
              <a:path w="3229808" h="1260838">
                <a:moveTo>
                  <a:pt x="0" y="0"/>
                </a:moveTo>
                <a:lnTo>
                  <a:pt x="3229807" y="0"/>
                </a:lnTo>
                <a:lnTo>
                  <a:pt x="3229807" y="1260838"/>
                </a:lnTo>
                <a:lnTo>
                  <a:pt x="0" y="1260838"/>
                </a:lnTo>
                <a:lnTo>
                  <a:pt x="0" y="0"/>
                </a:lnTo>
                <a:close/>
              </a:path>
            </a:pathLst>
          </a:custGeom>
          <a:blipFill>
            <a:blip r:embed="rId5"/>
            <a:stretch>
              <a:fillRect t="-47588" b="-57342"/>
            </a:stretch>
          </a:blipFill>
        </p:spPr>
        <p:txBody>
          <a:bodyPr/>
          <a:lstStyle/>
          <a:p>
            <a:endParaRPr lang="en-ID"/>
          </a:p>
        </p:txBody>
      </p:sp>
      <p:sp>
        <p:nvSpPr>
          <p:cNvPr id="32" name="Freeform 32"/>
          <p:cNvSpPr/>
          <p:nvPr/>
        </p:nvSpPr>
        <p:spPr>
          <a:xfrm>
            <a:off x="482173" y="9120610"/>
            <a:ext cx="4061787" cy="782752"/>
          </a:xfrm>
          <a:custGeom>
            <a:avLst/>
            <a:gdLst/>
            <a:ahLst/>
            <a:cxnLst/>
            <a:rect l="l" t="t" r="r" b="b"/>
            <a:pathLst>
              <a:path w="4061787" h="782752">
                <a:moveTo>
                  <a:pt x="0" y="0"/>
                </a:moveTo>
                <a:lnTo>
                  <a:pt x="4061787" y="0"/>
                </a:lnTo>
                <a:lnTo>
                  <a:pt x="4061787" y="782752"/>
                </a:lnTo>
                <a:lnTo>
                  <a:pt x="0" y="782752"/>
                </a:lnTo>
                <a:lnTo>
                  <a:pt x="0" y="0"/>
                </a:lnTo>
                <a:close/>
              </a:path>
            </a:pathLst>
          </a:custGeom>
          <a:blipFill>
            <a:blip r:embed="rId6"/>
            <a:stretch>
              <a:fillRect t="-276397" b="-272240"/>
            </a:stretch>
          </a:blipFill>
        </p:spPr>
        <p:txBody>
          <a:bodyPr/>
          <a:lstStyle/>
          <a:p>
            <a:endParaRPr lang="en-ID"/>
          </a:p>
        </p:txBody>
      </p:sp>
      <p:sp>
        <p:nvSpPr>
          <p:cNvPr id="33" name="Freeform 33"/>
          <p:cNvSpPr/>
          <p:nvPr/>
        </p:nvSpPr>
        <p:spPr>
          <a:xfrm>
            <a:off x="482173" y="8704412"/>
            <a:ext cx="17434852" cy="229572"/>
          </a:xfrm>
          <a:custGeom>
            <a:avLst/>
            <a:gdLst/>
            <a:ahLst/>
            <a:cxnLst/>
            <a:rect l="l" t="t" r="r" b="b"/>
            <a:pathLst>
              <a:path w="17434852" h="229572">
                <a:moveTo>
                  <a:pt x="0" y="0"/>
                </a:moveTo>
                <a:lnTo>
                  <a:pt x="17434852" y="0"/>
                </a:lnTo>
                <a:lnTo>
                  <a:pt x="17434852" y="229572"/>
                </a:lnTo>
                <a:lnTo>
                  <a:pt x="0" y="229572"/>
                </a:lnTo>
                <a:lnTo>
                  <a:pt x="0" y="0"/>
                </a:lnTo>
                <a:close/>
              </a:path>
            </a:pathLst>
          </a:custGeom>
          <a:blipFill>
            <a:blip r:embed="rId7"/>
            <a:stretch>
              <a:fillRect/>
            </a:stretch>
          </a:blipFill>
        </p:spPr>
        <p:txBody>
          <a:bodyPr/>
          <a:lstStyle/>
          <a:p>
            <a:endParaRPr lang="en-ID"/>
          </a:p>
        </p:txBody>
      </p:sp>
      <p:sp>
        <p:nvSpPr>
          <p:cNvPr id="34" name="TextBox 33">
            <a:extLst>
              <a:ext uri="{FF2B5EF4-FFF2-40B4-BE49-F238E27FC236}">
                <a16:creationId xmlns:a16="http://schemas.microsoft.com/office/drawing/2014/main" id="{7E96524D-00B4-9A10-85DB-99615B94A1B5}"/>
              </a:ext>
            </a:extLst>
          </p:cNvPr>
          <p:cNvSpPr txBox="1"/>
          <p:nvPr/>
        </p:nvSpPr>
        <p:spPr>
          <a:xfrm>
            <a:off x="7025640" y="4236720"/>
            <a:ext cx="184731" cy="369332"/>
          </a:xfrm>
          <a:prstGeom prst="rect">
            <a:avLst/>
          </a:prstGeom>
          <a:noFill/>
        </p:spPr>
        <p:txBody>
          <a:bodyPr wrap="none" rtlCol="0">
            <a:spAutoFit/>
          </a:bodyPr>
          <a:lstStyle/>
          <a:p>
            <a:endParaRPr lang="en-ID" dirty="0"/>
          </a:p>
        </p:txBody>
      </p:sp>
      <p:pic>
        <p:nvPicPr>
          <p:cNvPr id="36" name="Picture 35">
            <a:extLst>
              <a:ext uri="{FF2B5EF4-FFF2-40B4-BE49-F238E27FC236}">
                <a16:creationId xmlns:a16="http://schemas.microsoft.com/office/drawing/2014/main" id="{6A959762-8E50-9D14-6A3C-BC47F7E8C14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79926" y="1216174"/>
            <a:ext cx="1975134" cy="1283346"/>
          </a:xfrm>
          <a:prstGeom prst="rect">
            <a:avLst/>
          </a:prstGeom>
        </p:spPr>
      </p:pic>
      <p:pic>
        <p:nvPicPr>
          <p:cNvPr id="38" name="Picture 37">
            <a:extLst>
              <a:ext uri="{FF2B5EF4-FFF2-40B4-BE49-F238E27FC236}">
                <a16:creationId xmlns:a16="http://schemas.microsoft.com/office/drawing/2014/main" id="{702A9A04-5D23-99BE-065E-4FA106F86F0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791200" y="1216378"/>
            <a:ext cx="1975134" cy="1192674"/>
          </a:xfrm>
          <a:prstGeom prst="rect">
            <a:avLst/>
          </a:prstGeom>
        </p:spPr>
      </p:pic>
      <p:pic>
        <p:nvPicPr>
          <p:cNvPr id="40" name="Picture 39">
            <a:extLst>
              <a:ext uri="{FF2B5EF4-FFF2-40B4-BE49-F238E27FC236}">
                <a16:creationId xmlns:a16="http://schemas.microsoft.com/office/drawing/2014/main" id="{556F6360-F75A-945B-89F7-071127BEE84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793832" y="1118235"/>
            <a:ext cx="2536913" cy="1490286"/>
          </a:xfrm>
          <a:prstGeom prst="rect">
            <a:avLst/>
          </a:prstGeom>
        </p:spPr>
      </p:pic>
      <p:pic>
        <p:nvPicPr>
          <p:cNvPr id="42" name="Picture 41">
            <a:extLst>
              <a:ext uri="{FF2B5EF4-FFF2-40B4-BE49-F238E27FC236}">
                <a16:creationId xmlns:a16="http://schemas.microsoft.com/office/drawing/2014/main" id="{0C635CEE-CAD4-9A9F-028E-8A1C12BC63F7}"/>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flipH="1">
            <a:off x="14631694" y="1189764"/>
            <a:ext cx="2266815" cy="132674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15638" y="460926"/>
            <a:ext cx="10766706" cy="1019225"/>
          </a:xfrm>
          <a:prstGeom prst="rect">
            <a:avLst/>
          </a:prstGeom>
        </p:spPr>
        <p:txBody>
          <a:bodyPr lIns="0" tIns="0" rIns="0" bIns="0" rtlCol="0" anchor="t">
            <a:spAutoFit/>
          </a:bodyPr>
          <a:lstStyle/>
          <a:p>
            <a:pPr algn="l">
              <a:lnSpc>
                <a:spcPts val="7290"/>
              </a:lnSpc>
            </a:pPr>
            <a:r>
              <a:rPr lang="en-US" sz="7290" b="1">
                <a:solidFill>
                  <a:srgbClr val="E47C29"/>
                </a:solidFill>
                <a:latin typeface="Poppins Heavy"/>
                <a:ea typeface="Poppins Heavy"/>
                <a:cs typeface="Poppins Heavy"/>
                <a:sym typeface="Poppins Heavy"/>
              </a:rPr>
              <a:t>IMPACT, FEASIBILITY &amp;</a:t>
            </a:r>
          </a:p>
        </p:txBody>
      </p:sp>
      <p:sp>
        <p:nvSpPr>
          <p:cNvPr id="3" name="TextBox 3"/>
          <p:cNvSpPr txBox="1"/>
          <p:nvPr/>
        </p:nvSpPr>
        <p:spPr>
          <a:xfrm>
            <a:off x="653566" y="1435209"/>
            <a:ext cx="6973868" cy="1049166"/>
          </a:xfrm>
          <a:prstGeom prst="rect">
            <a:avLst/>
          </a:prstGeom>
        </p:spPr>
        <p:txBody>
          <a:bodyPr lIns="0" tIns="0" rIns="0" bIns="0" rtlCol="0" anchor="t">
            <a:spAutoFit/>
          </a:bodyPr>
          <a:lstStyle/>
          <a:p>
            <a:pPr algn="l">
              <a:lnSpc>
                <a:spcPts val="7391"/>
              </a:lnSpc>
            </a:pPr>
            <a:r>
              <a:rPr lang="en-US" sz="7391" b="1" dirty="0">
                <a:solidFill>
                  <a:srgbClr val="076AF2"/>
                </a:solidFill>
                <a:latin typeface="Poppins Heavy"/>
                <a:ea typeface="Poppins Heavy"/>
                <a:cs typeface="Poppins Heavy"/>
                <a:sym typeface="Poppins Heavy"/>
              </a:rPr>
              <a:t>FUTURE SCOPE</a:t>
            </a:r>
          </a:p>
        </p:txBody>
      </p:sp>
      <p:sp>
        <p:nvSpPr>
          <p:cNvPr id="5" name="TextBox 5"/>
          <p:cNvSpPr txBox="1"/>
          <p:nvPr/>
        </p:nvSpPr>
        <p:spPr>
          <a:xfrm>
            <a:off x="864086" y="2639639"/>
            <a:ext cx="2494408" cy="480913"/>
          </a:xfrm>
          <a:prstGeom prst="rect">
            <a:avLst/>
          </a:prstGeom>
        </p:spPr>
        <p:txBody>
          <a:bodyPr lIns="0" tIns="0" rIns="0" bIns="0" rtlCol="0" anchor="t">
            <a:spAutoFit/>
          </a:bodyPr>
          <a:lstStyle/>
          <a:p>
            <a:pPr algn="l">
              <a:lnSpc>
                <a:spcPts val="3616"/>
              </a:lnSpc>
            </a:pPr>
            <a:r>
              <a:rPr lang="en-US" sz="3616" b="1" dirty="0">
                <a:solidFill>
                  <a:srgbClr val="076AF2"/>
                </a:solidFill>
                <a:latin typeface="Roboto Condensed Bold"/>
                <a:ea typeface="Roboto Condensed Bold"/>
                <a:cs typeface="Roboto Condensed Bold"/>
                <a:sym typeface="Roboto Condensed Bold"/>
              </a:rPr>
              <a:t>IMPACT</a:t>
            </a:r>
          </a:p>
        </p:txBody>
      </p:sp>
      <p:sp>
        <p:nvSpPr>
          <p:cNvPr id="6" name="Freeform 6"/>
          <p:cNvSpPr/>
          <p:nvPr/>
        </p:nvSpPr>
        <p:spPr>
          <a:xfrm>
            <a:off x="615638" y="3069625"/>
            <a:ext cx="7012353" cy="229572"/>
          </a:xfrm>
          <a:custGeom>
            <a:avLst/>
            <a:gdLst/>
            <a:ahLst/>
            <a:cxnLst/>
            <a:rect l="l" t="t" r="r" b="b"/>
            <a:pathLst>
              <a:path w="7012353" h="229572">
                <a:moveTo>
                  <a:pt x="0" y="0"/>
                </a:moveTo>
                <a:lnTo>
                  <a:pt x="7012353" y="0"/>
                </a:lnTo>
                <a:lnTo>
                  <a:pt x="7012353" y="229571"/>
                </a:lnTo>
                <a:lnTo>
                  <a:pt x="0" y="229571"/>
                </a:lnTo>
                <a:lnTo>
                  <a:pt x="0" y="0"/>
                </a:lnTo>
                <a:close/>
              </a:path>
            </a:pathLst>
          </a:custGeom>
          <a:blipFill>
            <a:blip r:embed="rId2"/>
            <a:stretch>
              <a:fillRect t="-19837" b="-19837"/>
            </a:stretch>
          </a:blipFill>
        </p:spPr>
        <p:txBody>
          <a:bodyPr/>
          <a:lstStyle/>
          <a:p>
            <a:endParaRPr lang="en-ID"/>
          </a:p>
        </p:txBody>
      </p:sp>
      <p:sp>
        <p:nvSpPr>
          <p:cNvPr id="7" name="TextBox 7"/>
          <p:cNvSpPr txBox="1"/>
          <p:nvPr/>
        </p:nvSpPr>
        <p:spPr>
          <a:xfrm>
            <a:off x="818366" y="3302128"/>
            <a:ext cx="7761754" cy="1277273"/>
          </a:xfrm>
          <a:prstGeom prst="rect">
            <a:avLst/>
          </a:prstGeom>
        </p:spPr>
        <p:txBody>
          <a:bodyPr wrap="square" lIns="0" tIns="0" rIns="0" bIns="0" rtlCol="0" anchor="t">
            <a:spAutoFit/>
          </a:bodyPr>
          <a:lstStyle/>
          <a:p>
            <a:pPr algn="just">
              <a:lnSpc>
                <a:spcPts val="3312"/>
              </a:lnSpc>
            </a:pPr>
            <a:r>
              <a:rPr lang="en-US" sz="2759" b="1" dirty="0">
                <a:solidFill>
                  <a:srgbClr val="151515"/>
                </a:solidFill>
                <a:latin typeface="Roboto Condensed"/>
                <a:ea typeface="Roboto Condensed"/>
                <a:cs typeface="Roboto Condensed"/>
                <a:sym typeface="Roboto Condensed"/>
              </a:rPr>
              <a:t>Target users / beneficiaries:</a:t>
            </a:r>
          </a:p>
          <a:p>
            <a:r>
              <a:rPr lang="en-ID" sz="2800" dirty="0"/>
              <a:t>Students, startups, SMEs and REST API developers.</a:t>
            </a:r>
          </a:p>
          <a:p>
            <a:pPr algn="just">
              <a:lnSpc>
                <a:spcPts val="3312"/>
              </a:lnSpc>
            </a:pPr>
            <a:endParaRPr lang="en-US" sz="2759" b="1" dirty="0">
              <a:solidFill>
                <a:srgbClr val="151515"/>
              </a:solidFill>
              <a:latin typeface="Roboto Condensed"/>
              <a:ea typeface="Roboto Condensed"/>
              <a:cs typeface="Roboto Condensed"/>
              <a:sym typeface="Roboto Condensed"/>
            </a:endParaRPr>
          </a:p>
        </p:txBody>
      </p:sp>
      <p:sp>
        <p:nvSpPr>
          <p:cNvPr id="8" name="TextBox 8"/>
          <p:cNvSpPr txBox="1"/>
          <p:nvPr/>
        </p:nvSpPr>
        <p:spPr>
          <a:xfrm>
            <a:off x="818366" y="4602261"/>
            <a:ext cx="7944634" cy="2139047"/>
          </a:xfrm>
          <a:prstGeom prst="rect">
            <a:avLst/>
          </a:prstGeom>
        </p:spPr>
        <p:txBody>
          <a:bodyPr wrap="square" lIns="0" tIns="0" rIns="0" bIns="0" rtlCol="0" anchor="t">
            <a:spAutoFit/>
          </a:bodyPr>
          <a:lstStyle/>
          <a:p>
            <a:pPr algn="just">
              <a:lnSpc>
                <a:spcPts val="3312"/>
              </a:lnSpc>
            </a:pPr>
            <a:r>
              <a:rPr lang="en-US" sz="2759" b="1" dirty="0">
                <a:solidFill>
                  <a:srgbClr val="151515"/>
                </a:solidFill>
                <a:latin typeface="Roboto Condensed"/>
                <a:ea typeface="Roboto Condensed"/>
                <a:cs typeface="Roboto Condensed"/>
                <a:sym typeface="Roboto Condensed"/>
              </a:rPr>
              <a:t>Expected</a:t>
            </a:r>
            <a:r>
              <a:rPr lang="en-US" sz="2759" dirty="0">
                <a:solidFill>
                  <a:srgbClr val="151515"/>
                </a:solidFill>
                <a:latin typeface="Roboto Condensed"/>
                <a:ea typeface="Roboto Condensed"/>
                <a:cs typeface="Roboto Condensed"/>
                <a:sym typeface="Roboto Condensed"/>
              </a:rPr>
              <a:t> </a:t>
            </a:r>
            <a:r>
              <a:rPr lang="en-US" sz="2759" b="1" dirty="0">
                <a:solidFill>
                  <a:srgbClr val="151515"/>
                </a:solidFill>
                <a:latin typeface="Roboto Condensed"/>
                <a:ea typeface="Roboto Condensed"/>
                <a:cs typeface="Roboto Condensed"/>
                <a:sym typeface="Roboto Condensed"/>
              </a:rPr>
              <a:t>benefits:</a:t>
            </a:r>
          </a:p>
          <a:p>
            <a:r>
              <a:rPr lang="en-ID" sz="2800" dirty="0"/>
              <a:t>Blocks common attacks, reduces API abuse and provides security monitoring with zero backend code changes.</a:t>
            </a:r>
          </a:p>
          <a:p>
            <a:pPr algn="just">
              <a:lnSpc>
                <a:spcPts val="3312"/>
              </a:lnSpc>
            </a:pPr>
            <a:endParaRPr lang="en-US" sz="2759" b="1" dirty="0">
              <a:solidFill>
                <a:srgbClr val="151515"/>
              </a:solidFill>
              <a:latin typeface="Roboto Condensed"/>
              <a:ea typeface="Roboto Condensed"/>
              <a:cs typeface="Roboto Condensed"/>
              <a:sym typeface="Roboto Condensed"/>
            </a:endParaRPr>
          </a:p>
        </p:txBody>
      </p:sp>
      <p:sp>
        <p:nvSpPr>
          <p:cNvPr id="9" name="TextBox 9"/>
          <p:cNvSpPr txBox="1"/>
          <p:nvPr/>
        </p:nvSpPr>
        <p:spPr>
          <a:xfrm>
            <a:off x="864086" y="6631680"/>
            <a:ext cx="6229116" cy="2139047"/>
          </a:xfrm>
          <a:prstGeom prst="rect">
            <a:avLst/>
          </a:prstGeom>
        </p:spPr>
        <p:txBody>
          <a:bodyPr lIns="0" tIns="0" rIns="0" bIns="0" rtlCol="0" anchor="t">
            <a:spAutoFit/>
          </a:bodyPr>
          <a:lstStyle/>
          <a:p>
            <a:pPr algn="l">
              <a:lnSpc>
                <a:spcPts val="3312"/>
              </a:lnSpc>
            </a:pPr>
            <a:r>
              <a:rPr lang="en-US" sz="2759" b="1" dirty="0">
                <a:solidFill>
                  <a:srgbClr val="151515"/>
                </a:solidFill>
                <a:latin typeface="Roboto Condensed"/>
                <a:ea typeface="Roboto Condensed"/>
                <a:cs typeface="Roboto Condensed"/>
                <a:sym typeface="Roboto Condensed"/>
              </a:rPr>
              <a:t>How will you measure success?</a:t>
            </a:r>
          </a:p>
          <a:p>
            <a:pPr>
              <a:lnSpc>
                <a:spcPct val="100000"/>
              </a:lnSpc>
            </a:pPr>
            <a:r>
              <a:rPr lang="en-ID" sz="2800" dirty="0"/>
              <a:t>Target: ≥95% detection </a:t>
            </a:r>
          </a:p>
          <a:p>
            <a:pPr>
              <a:lnSpc>
                <a:spcPct val="100000"/>
              </a:lnSpc>
            </a:pPr>
            <a:r>
              <a:rPr lang="en-ID" sz="2800" dirty="0"/>
              <a:t>≤2% false positives </a:t>
            </a:r>
          </a:p>
          <a:p>
            <a:pPr>
              <a:lnSpc>
                <a:spcPct val="100000"/>
              </a:lnSpc>
            </a:pPr>
            <a:r>
              <a:rPr lang="en-ID" sz="2800" dirty="0"/>
              <a:t>p95 latency &lt;20 </a:t>
            </a:r>
            <a:r>
              <a:rPr lang="en-ID" sz="2800" dirty="0" err="1"/>
              <a:t>ms</a:t>
            </a:r>
            <a:r>
              <a:rPr lang="en-ID" sz="2800" dirty="0"/>
              <a:t>.</a:t>
            </a:r>
          </a:p>
          <a:p>
            <a:pPr algn="l">
              <a:lnSpc>
                <a:spcPts val="3312"/>
              </a:lnSpc>
            </a:pPr>
            <a:endParaRPr lang="en-US" sz="2759" b="1" dirty="0">
              <a:solidFill>
                <a:srgbClr val="151515"/>
              </a:solidFill>
              <a:latin typeface="Roboto Condensed"/>
              <a:ea typeface="Roboto Condensed"/>
              <a:cs typeface="Roboto Condensed"/>
              <a:sym typeface="Roboto Condensed"/>
            </a:endParaRPr>
          </a:p>
        </p:txBody>
      </p:sp>
      <p:sp>
        <p:nvSpPr>
          <p:cNvPr id="10" name="TextBox 10"/>
          <p:cNvSpPr txBox="1"/>
          <p:nvPr/>
        </p:nvSpPr>
        <p:spPr>
          <a:xfrm>
            <a:off x="9144000" y="2639639"/>
            <a:ext cx="5426298" cy="516288"/>
          </a:xfrm>
          <a:prstGeom prst="rect">
            <a:avLst/>
          </a:prstGeom>
        </p:spPr>
        <p:txBody>
          <a:bodyPr lIns="0" tIns="0" rIns="0" bIns="0" rtlCol="0" anchor="t">
            <a:spAutoFit/>
          </a:bodyPr>
          <a:lstStyle/>
          <a:p>
            <a:pPr algn="l">
              <a:lnSpc>
                <a:spcPts val="3918"/>
              </a:lnSpc>
            </a:pPr>
            <a:r>
              <a:rPr lang="en-US" sz="3918" b="1" dirty="0">
                <a:solidFill>
                  <a:srgbClr val="076AF2"/>
                </a:solidFill>
                <a:latin typeface="Roboto Condensed Bold"/>
                <a:ea typeface="Roboto Condensed Bold"/>
                <a:cs typeface="Roboto Condensed Bold"/>
                <a:sym typeface="Roboto Condensed Bold"/>
              </a:rPr>
              <a:t>FUTURE SCOPE</a:t>
            </a:r>
          </a:p>
        </p:txBody>
      </p:sp>
      <p:sp>
        <p:nvSpPr>
          <p:cNvPr id="11" name="Freeform 11"/>
          <p:cNvSpPr/>
          <p:nvPr/>
        </p:nvSpPr>
        <p:spPr>
          <a:xfrm>
            <a:off x="9015716" y="3050468"/>
            <a:ext cx="8083152" cy="248729"/>
          </a:xfrm>
          <a:custGeom>
            <a:avLst/>
            <a:gdLst/>
            <a:ahLst/>
            <a:cxnLst/>
            <a:rect l="l" t="t" r="r" b="b"/>
            <a:pathLst>
              <a:path w="8083152" h="248729">
                <a:moveTo>
                  <a:pt x="0" y="0"/>
                </a:moveTo>
                <a:lnTo>
                  <a:pt x="8083152" y="0"/>
                </a:lnTo>
                <a:lnTo>
                  <a:pt x="8083152" y="248729"/>
                </a:lnTo>
                <a:lnTo>
                  <a:pt x="0" y="248729"/>
                </a:lnTo>
                <a:lnTo>
                  <a:pt x="0" y="0"/>
                </a:lnTo>
                <a:close/>
              </a:path>
            </a:pathLst>
          </a:custGeom>
          <a:blipFill>
            <a:blip r:embed="rId3"/>
            <a:stretch>
              <a:fillRect t="-24301" b="-24301"/>
            </a:stretch>
          </a:blipFill>
        </p:spPr>
        <p:txBody>
          <a:bodyPr/>
          <a:lstStyle/>
          <a:p>
            <a:endParaRPr lang="en-ID"/>
          </a:p>
        </p:txBody>
      </p:sp>
      <p:sp>
        <p:nvSpPr>
          <p:cNvPr id="12" name="TextBox 12"/>
          <p:cNvSpPr txBox="1"/>
          <p:nvPr/>
        </p:nvSpPr>
        <p:spPr>
          <a:xfrm>
            <a:off x="8945880" y="3356480"/>
            <a:ext cx="6873240" cy="2627322"/>
          </a:xfrm>
          <a:prstGeom prst="rect">
            <a:avLst/>
          </a:prstGeom>
        </p:spPr>
        <p:txBody>
          <a:bodyPr wrap="square" lIns="0" tIns="0" rIns="0" bIns="0" rtlCol="0" anchor="t">
            <a:spAutoFit/>
          </a:bodyPr>
          <a:lstStyle/>
          <a:p>
            <a:pPr algn="l">
              <a:lnSpc>
                <a:spcPts val="3588"/>
              </a:lnSpc>
            </a:pPr>
            <a:r>
              <a:rPr lang="en-US" sz="2800" b="1" dirty="0">
                <a:latin typeface="Roboto Condensed"/>
                <a:ea typeface="Roboto Condensed"/>
                <a:cs typeface="Roboto Condensed"/>
                <a:sym typeface="Roboto Condensed"/>
              </a:rPr>
              <a:t>Planned improvements:</a:t>
            </a:r>
          </a:p>
          <a:p>
            <a:pPr lvl="0"/>
            <a:r>
              <a:rPr lang="en-ID" sz="2800" dirty="0"/>
              <a:t>ML-based anomaly detection</a:t>
            </a:r>
          </a:p>
          <a:p>
            <a:pPr lvl="0"/>
            <a:r>
              <a:rPr lang="en-ID" sz="2800" dirty="0" err="1"/>
              <a:t>GraphQL</a:t>
            </a:r>
            <a:r>
              <a:rPr lang="en-ID" sz="2800" dirty="0"/>
              <a:t> and </a:t>
            </a:r>
            <a:r>
              <a:rPr lang="en-ID" sz="2800" dirty="0" err="1"/>
              <a:t>gRPC</a:t>
            </a:r>
            <a:r>
              <a:rPr lang="en-ID" sz="2800" dirty="0"/>
              <a:t> support</a:t>
            </a:r>
          </a:p>
          <a:p>
            <a:pPr lvl="0"/>
            <a:r>
              <a:rPr lang="en-ID" sz="2800" dirty="0"/>
              <a:t>JWT-aware security checks</a:t>
            </a:r>
          </a:p>
          <a:p>
            <a:pPr lvl="0"/>
            <a:r>
              <a:rPr lang="en-ID" sz="2800" dirty="0"/>
              <a:t>Automated security alerts</a:t>
            </a:r>
          </a:p>
          <a:p>
            <a:pPr algn="l">
              <a:lnSpc>
                <a:spcPts val="3588"/>
              </a:lnSpc>
            </a:pPr>
            <a:endParaRPr lang="en-US" sz="2990" b="1" dirty="0">
              <a:solidFill>
                <a:srgbClr val="102A43"/>
              </a:solidFill>
              <a:latin typeface="Roboto Condensed"/>
              <a:ea typeface="Roboto Condensed"/>
              <a:cs typeface="Roboto Condensed"/>
              <a:sym typeface="Roboto Condensed"/>
            </a:endParaRPr>
          </a:p>
        </p:txBody>
      </p:sp>
      <p:sp>
        <p:nvSpPr>
          <p:cNvPr id="13" name="TextBox 13"/>
          <p:cNvSpPr txBox="1"/>
          <p:nvPr/>
        </p:nvSpPr>
        <p:spPr>
          <a:xfrm>
            <a:off x="8945880" y="5733750"/>
            <a:ext cx="6873240" cy="2627322"/>
          </a:xfrm>
          <a:prstGeom prst="rect">
            <a:avLst/>
          </a:prstGeom>
        </p:spPr>
        <p:txBody>
          <a:bodyPr wrap="square" lIns="0" tIns="0" rIns="0" bIns="0" rtlCol="0" anchor="t">
            <a:spAutoFit/>
          </a:bodyPr>
          <a:lstStyle/>
          <a:p>
            <a:pPr algn="l">
              <a:lnSpc>
                <a:spcPts val="3588"/>
              </a:lnSpc>
            </a:pPr>
            <a:r>
              <a:rPr lang="en-US" sz="2800" b="1" dirty="0">
                <a:solidFill>
                  <a:schemeClr val="tx1">
                    <a:lumMod val="95000"/>
                    <a:lumOff val="5000"/>
                  </a:schemeClr>
                </a:solidFill>
                <a:latin typeface="Roboto Condensed"/>
                <a:ea typeface="Roboto Condensed"/>
                <a:cs typeface="Roboto Condensed"/>
                <a:sym typeface="Roboto Condensed"/>
              </a:rPr>
              <a:t>Scalability or next steps:</a:t>
            </a:r>
          </a:p>
          <a:p>
            <a:pPr lvl="0"/>
            <a:r>
              <a:rPr lang="en-ID" sz="2800" dirty="0"/>
              <a:t>Redis-based distributed rate limiting</a:t>
            </a:r>
          </a:p>
          <a:p>
            <a:pPr lvl="0"/>
            <a:r>
              <a:rPr lang="en-ID" sz="2800" dirty="0"/>
              <a:t>Docker and Kubernetes deployment</a:t>
            </a:r>
          </a:p>
          <a:p>
            <a:pPr lvl="0"/>
            <a:r>
              <a:rPr lang="en-ID" sz="2800" dirty="0"/>
              <a:t>SIEM integration</a:t>
            </a:r>
          </a:p>
          <a:p>
            <a:pPr lvl="0"/>
            <a:r>
              <a:rPr lang="en-ID" sz="2800" dirty="0"/>
              <a:t>Hosted API security platform for SMEs</a:t>
            </a:r>
          </a:p>
          <a:p>
            <a:pPr algn="l">
              <a:lnSpc>
                <a:spcPts val="3588"/>
              </a:lnSpc>
            </a:pPr>
            <a:endParaRPr lang="en-US" sz="2990" b="1" dirty="0">
              <a:solidFill>
                <a:srgbClr val="102A43"/>
              </a:solidFill>
              <a:latin typeface="Roboto Condensed"/>
              <a:ea typeface="Roboto Condensed"/>
              <a:cs typeface="Roboto Condensed"/>
              <a:sym typeface="Roboto Condensed"/>
            </a:endParaRPr>
          </a:p>
        </p:txBody>
      </p:sp>
      <p:sp>
        <p:nvSpPr>
          <p:cNvPr id="14" name="Freeform 14"/>
          <p:cNvSpPr/>
          <p:nvPr/>
        </p:nvSpPr>
        <p:spPr>
          <a:xfrm>
            <a:off x="13486949" y="8799331"/>
            <a:ext cx="3772351" cy="917939"/>
          </a:xfrm>
          <a:custGeom>
            <a:avLst/>
            <a:gdLst/>
            <a:ahLst/>
            <a:cxnLst/>
            <a:rect l="l" t="t" r="r" b="b"/>
            <a:pathLst>
              <a:path w="3772351" h="917939">
                <a:moveTo>
                  <a:pt x="0" y="0"/>
                </a:moveTo>
                <a:lnTo>
                  <a:pt x="3772351" y="0"/>
                </a:lnTo>
                <a:lnTo>
                  <a:pt x="3772351" y="917938"/>
                </a:lnTo>
                <a:lnTo>
                  <a:pt x="0" y="917938"/>
                </a:lnTo>
                <a:lnTo>
                  <a:pt x="0" y="0"/>
                </a:lnTo>
                <a:close/>
              </a:path>
            </a:pathLst>
          </a:custGeom>
          <a:blipFill>
            <a:blip r:embed="rId4"/>
            <a:stretch>
              <a:fillRect/>
            </a:stretch>
          </a:blipFill>
        </p:spPr>
        <p:txBody>
          <a:bodyPr/>
          <a:lstStyle/>
          <a:p>
            <a:endParaRPr lang="en-ID"/>
          </a:p>
        </p:txBody>
      </p:sp>
      <p:sp>
        <p:nvSpPr>
          <p:cNvPr id="15" name="Freeform 15"/>
          <p:cNvSpPr/>
          <p:nvPr/>
        </p:nvSpPr>
        <p:spPr>
          <a:xfrm>
            <a:off x="7400812" y="8627881"/>
            <a:ext cx="3229808" cy="1260838"/>
          </a:xfrm>
          <a:custGeom>
            <a:avLst/>
            <a:gdLst/>
            <a:ahLst/>
            <a:cxnLst/>
            <a:rect l="l" t="t" r="r" b="b"/>
            <a:pathLst>
              <a:path w="3229808" h="1260838">
                <a:moveTo>
                  <a:pt x="0" y="0"/>
                </a:moveTo>
                <a:lnTo>
                  <a:pt x="3229807" y="0"/>
                </a:lnTo>
                <a:lnTo>
                  <a:pt x="3229807" y="1260838"/>
                </a:lnTo>
                <a:lnTo>
                  <a:pt x="0" y="1260838"/>
                </a:lnTo>
                <a:lnTo>
                  <a:pt x="0" y="0"/>
                </a:lnTo>
                <a:close/>
              </a:path>
            </a:pathLst>
          </a:custGeom>
          <a:blipFill>
            <a:blip r:embed="rId5"/>
            <a:stretch>
              <a:fillRect t="-47588" b="-57342"/>
            </a:stretch>
          </a:blipFill>
        </p:spPr>
        <p:txBody>
          <a:bodyPr/>
          <a:lstStyle/>
          <a:p>
            <a:endParaRPr lang="en-ID"/>
          </a:p>
        </p:txBody>
      </p:sp>
      <p:sp>
        <p:nvSpPr>
          <p:cNvPr id="16" name="Freeform 16"/>
          <p:cNvSpPr/>
          <p:nvPr/>
        </p:nvSpPr>
        <p:spPr>
          <a:xfrm>
            <a:off x="495096" y="8866924"/>
            <a:ext cx="4061787" cy="782752"/>
          </a:xfrm>
          <a:custGeom>
            <a:avLst/>
            <a:gdLst/>
            <a:ahLst/>
            <a:cxnLst/>
            <a:rect l="l" t="t" r="r" b="b"/>
            <a:pathLst>
              <a:path w="4061787" h="782752">
                <a:moveTo>
                  <a:pt x="0" y="0"/>
                </a:moveTo>
                <a:lnTo>
                  <a:pt x="4061787" y="0"/>
                </a:lnTo>
                <a:lnTo>
                  <a:pt x="4061787" y="782752"/>
                </a:lnTo>
                <a:lnTo>
                  <a:pt x="0" y="782752"/>
                </a:lnTo>
                <a:lnTo>
                  <a:pt x="0" y="0"/>
                </a:lnTo>
                <a:close/>
              </a:path>
            </a:pathLst>
          </a:custGeom>
          <a:blipFill>
            <a:blip r:embed="rId6"/>
            <a:stretch>
              <a:fillRect t="-276397" b="-272240"/>
            </a:stretch>
          </a:blipFill>
        </p:spPr>
        <p:txBody>
          <a:bodyPr/>
          <a:lstStyle/>
          <a:p>
            <a:endParaRPr lang="en-ID"/>
          </a:p>
        </p:txBody>
      </p:sp>
      <p:sp>
        <p:nvSpPr>
          <p:cNvPr id="17" name="Freeform 17"/>
          <p:cNvSpPr/>
          <p:nvPr/>
        </p:nvSpPr>
        <p:spPr>
          <a:xfrm>
            <a:off x="495096" y="8450726"/>
            <a:ext cx="17434852" cy="229572"/>
          </a:xfrm>
          <a:custGeom>
            <a:avLst/>
            <a:gdLst/>
            <a:ahLst/>
            <a:cxnLst/>
            <a:rect l="l" t="t" r="r" b="b"/>
            <a:pathLst>
              <a:path w="17434852" h="229572">
                <a:moveTo>
                  <a:pt x="0" y="0"/>
                </a:moveTo>
                <a:lnTo>
                  <a:pt x="17434852" y="0"/>
                </a:lnTo>
                <a:lnTo>
                  <a:pt x="17434852" y="229572"/>
                </a:lnTo>
                <a:lnTo>
                  <a:pt x="0" y="229572"/>
                </a:lnTo>
                <a:lnTo>
                  <a:pt x="0" y="0"/>
                </a:lnTo>
                <a:close/>
              </a:path>
            </a:pathLst>
          </a:custGeom>
          <a:blipFill>
            <a:blip r:embed="rId7"/>
            <a:stretch>
              <a:fillRect/>
            </a:stretch>
          </a:blipFill>
        </p:spPr>
        <p:txBody>
          <a:bodyPr/>
          <a:lstStyle/>
          <a:p>
            <a:endParaRPr lang="en-I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116</TotalTime>
  <Words>461</Words>
  <Application>Microsoft Office PowerPoint</Application>
  <PresentationFormat>Custom</PresentationFormat>
  <Paragraphs>83</Paragraphs>
  <Slides>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vt:i4>
      </vt:variant>
    </vt:vector>
  </HeadingPairs>
  <TitlesOfParts>
    <vt:vector size="16" baseType="lpstr">
      <vt:lpstr>Poppins Ultra-Bold</vt:lpstr>
      <vt:lpstr>Calibri</vt:lpstr>
      <vt:lpstr>Poppins Medium</vt:lpstr>
      <vt:lpstr>Arial</vt:lpstr>
      <vt:lpstr>Poppins Bold</vt:lpstr>
      <vt:lpstr>Poppins Heavy</vt:lpstr>
      <vt:lpstr>Canva Sans Bold</vt:lpstr>
      <vt:lpstr>Roboto Condensed</vt:lpstr>
      <vt:lpstr>Roboto Condensed Bold</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InnoHack 2.0 Team Template</dc:title>
  <dc:creator>Chandana Kandala</dc:creator>
  <cp:lastModifiedBy>Chandana Kandala</cp:lastModifiedBy>
  <cp:revision>3</cp:revision>
  <dcterms:created xsi:type="dcterms:W3CDTF">2006-08-16T00:00:00Z</dcterms:created>
  <dcterms:modified xsi:type="dcterms:W3CDTF">2026-10-15T10:56:24Z</dcterms:modified>
  <dc:identifier>DAHYD5x2J7o</dc:identifier>
</cp:coreProperties>
</file>